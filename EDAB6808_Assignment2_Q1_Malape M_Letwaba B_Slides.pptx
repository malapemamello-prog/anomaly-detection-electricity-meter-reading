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63" d="100"/>
          <a:sy n="63" d="100"/>
        </p:scale>
        <p:origin x="80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ipelo Letwaba" userId="dfa0b89fb4636129" providerId="LiveId" clId="{FBD70D4D-EA64-458A-958D-1DFB201BC548}"/>
    <pc:docChg chg="modSld">
      <pc:chgData name="Boipelo Letwaba" userId="dfa0b89fb4636129" providerId="LiveId" clId="{FBD70D4D-EA64-458A-958D-1DFB201BC548}" dt="2026-09-29T17:08:38.584" v="0" actId="123"/>
      <pc:docMkLst>
        <pc:docMk/>
      </pc:docMkLst>
      <pc:sldChg chg="modSp mod">
        <pc:chgData name="Boipelo Letwaba" userId="dfa0b89fb4636129" providerId="LiveId" clId="{FBD70D4D-EA64-458A-958D-1DFB201BC548}" dt="2026-09-29T17:08:38.584" v="0" actId="123"/>
        <pc:sldMkLst>
          <pc:docMk/>
          <pc:sldMk cId="0" sldId="257"/>
        </pc:sldMkLst>
        <pc:spChg chg="mod">
          <ac:chgData name="Boipelo Letwaba" userId="dfa0b89fb4636129" providerId="LiveId" clId="{FBD70D4D-EA64-458A-958D-1DFB201BC548}" dt="2026-09-29T17:08:38.584" v="0" actId="123"/>
          <ac:spMkLst>
            <pc:docMk/>
            <pc:sldMk cId="0" sldId="257"/>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ZA" sz="1300" b="0" i="0" u="none" strike="noStrike">
                <a:solidFill>
                  <a:srgbClr val="0B2545"/>
                </a:solidFill>
                <a:latin typeface="Calibri"/>
              </a:rPr>
              <a:t>Training Set Class Balance</a:t>
            </a:r>
          </a:p>
        </c:rich>
      </c:tx>
      <c:layout>
        <c:manualLayout>
          <c:xMode val="edge"/>
          <c:yMode val="edge"/>
          <c:x val="3.675398418335149E-4"/>
          <c:y val="2.684311293280121E-2"/>
        </c:manualLayout>
      </c:layout>
      <c:overlay val="0"/>
    </c:title>
    <c:autoTitleDeleted val="0"/>
    <c:plotArea>
      <c:layout/>
      <c:pie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134074"/>
              </a:solidFill>
              <a:effectLst/>
            </c:spPr>
            <c:extLst>
              <c:ext xmlns:c16="http://schemas.microsoft.com/office/drawing/2014/chart" uri="{C3380CC4-5D6E-409C-BE32-E72D297353CC}">
                <c16:uniqueId val="{00000001-E722-4C83-B60F-BC541942F7AC}"/>
              </c:ext>
            </c:extLst>
          </c:dPt>
          <c:dPt>
            <c:idx val="1"/>
            <c:bubble3D val="0"/>
            <c:spPr>
              <a:solidFill>
                <a:srgbClr val="F2A541"/>
              </a:solidFill>
              <a:effectLst/>
            </c:spPr>
            <c:extLst>
              <c:ext xmlns:c16="http://schemas.microsoft.com/office/drawing/2014/chart" uri="{C3380CC4-5D6E-409C-BE32-E72D297353CC}">
                <c16:uniqueId val="{00000003-E722-4C83-B60F-BC541942F7AC}"/>
              </c:ext>
            </c:extLst>
          </c:dPt>
          <c:dLbls>
            <c:dLbl>
              <c:idx val="0"/>
              <c:numFmt formatCode="0&quot;%&quot;" sourceLinked="0"/>
              <c:spPr/>
              <c:txPr>
                <a:bodyPr/>
                <a:lstStyle/>
                <a:p>
                  <a:pPr>
                    <a:defRPr sz="1200" b="0" i="0" u="none" strike="noStrike">
                      <a:solidFill>
                        <a:srgbClr val="1B2430"/>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22-4C83-B60F-BC541942F7AC}"/>
                </c:ext>
              </c:extLst>
            </c:dLbl>
            <c:dLbl>
              <c:idx val="1"/>
              <c:numFmt formatCode="0&quot;%&quot;" sourceLinked="0"/>
              <c:spPr/>
              <c:txPr>
                <a:bodyPr/>
                <a:lstStyle/>
                <a:p>
                  <a:pPr>
                    <a:defRPr sz="1200" b="0" i="0" u="none" strike="noStrike">
                      <a:solidFill>
                        <a:srgbClr val="1B2430"/>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722-4C83-B60F-BC541942F7AC}"/>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Normal</c:v>
                </c:pt>
                <c:pt idx="1">
                  <c:v>Anomalous</c:v>
                </c:pt>
              </c:strCache>
            </c:strRef>
          </c:cat>
          <c:val>
            <c:numRef>
              <c:f>Sheet1!$B$2:$B$3</c:f>
              <c:numCache>
                <c:formatCode>General</c:formatCode>
                <c:ptCount val="2"/>
                <c:pt idx="0">
                  <c:v>97.87</c:v>
                </c:pt>
                <c:pt idx="1">
                  <c:v>2.13</c:v>
                </c:pt>
              </c:numCache>
            </c:numRef>
          </c:val>
          <c:extLst>
            <c:ext xmlns:c16="http://schemas.microsoft.com/office/drawing/2014/chart" uri="{C3380CC4-5D6E-409C-BE32-E72D297353CC}">
              <c16:uniqueId val="{00000004-E722-4C83-B60F-BC541942F7AC}"/>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1.897526289605956E-2"/>
          <c:y val="0.9129465088268075"/>
          <c:w val="0.38470742627759763"/>
          <c:h val="5.8514678387804261E-2"/>
        </c:manualLayout>
      </c:layout>
      <c:overlay val="0"/>
      <c:txPr>
        <a:bodyPr/>
        <a:lstStyle/>
        <a:p>
          <a:pPr>
            <a:defRPr sz="1200">
              <a:solidFill>
                <a:srgbClr val="1B2430"/>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US" sz="1300" b="0" i="0" u="none" strike="noStrike">
                <a:solidFill>
                  <a:srgbClr val="0B2545"/>
                </a:solidFill>
                <a:latin typeface="Calibri"/>
              </a:rPr>
              <a:t>Top 5 Buildings by Anomaly Rate</a:t>
            </a:r>
          </a:p>
        </c:rich>
      </c:tx>
      <c:overlay val="0"/>
    </c:title>
    <c:autoTitleDeleted val="0"/>
    <c:plotArea>
      <c:layout/>
      <c:barChart>
        <c:barDir val="col"/>
        <c:grouping val="clustered"/>
        <c:varyColors val="0"/>
        <c:ser>
          <c:idx val="0"/>
          <c:order val="0"/>
          <c:tx>
            <c:strRef>
              <c:f>Sheet1!$B$1</c:f>
              <c:strCache>
                <c:ptCount val="1"/>
                <c:pt idx="0">
                  <c:v>Anomaly rate (%)</c:v>
                </c:pt>
              </c:strCache>
            </c:strRef>
          </c:tx>
          <c:spPr>
            <a:solidFill>
              <a:srgbClr val="F2A541"/>
            </a:solidFill>
            <a:effectLst/>
          </c:spPr>
          <c:invertIfNegative val="0"/>
          <c:dLbls>
            <c:numFmt formatCode="0.0&quot;%&quot;" sourceLinked="0"/>
            <c:spPr>
              <a:noFill/>
              <a:ln>
                <a:noFill/>
              </a:ln>
              <a:effectLst/>
            </c:spPr>
            <c:txPr>
              <a:bodyPr/>
              <a:lstStyle/>
              <a:p>
                <a:pPr>
                  <a:defRPr sz="11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1319</c:v>
                </c:pt>
                <c:pt idx="1">
                  <c:v>1258</c:v>
                </c:pt>
                <c:pt idx="2">
                  <c:v>439</c:v>
                </c:pt>
                <c:pt idx="3">
                  <c:v>247</c:v>
                </c:pt>
                <c:pt idx="4">
                  <c:v>1225</c:v>
                </c:pt>
              </c:strCache>
            </c:strRef>
          </c:cat>
          <c:val>
            <c:numRef>
              <c:f>Sheet1!$B$2:$B$6</c:f>
              <c:numCache>
                <c:formatCode>General</c:formatCode>
                <c:ptCount val="5"/>
                <c:pt idx="0">
                  <c:v>8.82</c:v>
                </c:pt>
                <c:pt idx="1">
                  <c:v>8.1199999999999992</c:v>
                </c:pt>
                <c:pt idx="2">
                  <c:v>6.47</c:v>
                </c:pt>
                <c:pt idx="3">
                  <c:v>5.45</c:v>
                </c:pt>
                <c:pt idx="4">
                  <c:v>5.27</c:v>
                </c:pt>
              </c:numCache>
            </c:numRef>
          </c:val>
          <c:extLst>
            <c:ext xmlns:c16="http://schemas.microsoft.com/office/drawing/2014/chart" uri="{C3380CC4-5D6E-409C-BE32-E72D297353CC}">
              <c16:uniqueId val="{00000000-5B33-4E8D-B6D4-712256920E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7ED"/>
              </a:solidFill>
              <a:prstDash val="solid"/>
              <a:round/>
            </a:ln>
          </c:spPr>
        </c:majorGridlines>
        <c:title>
          <c:tx>
            <c:rich>
              <a:bodyPr/>
              <a:lstStyle/>
              <a:p>
                <a:pPr>
                  <a:defRPr b="0" i="0" u="none" strike="noStrike">
                    <a:solidFill>
                      <a:srgbClr val="000000"/>
                    </a:solidFill>
                    <a:latin typeface="Arial"/>
                  </a:defRPr>
                </a:pPr>
                <a:r>
                  <a:rPr lang="en-ZA" b="0" i="0" u="none" strike="noStrike">
                    <a:solidFill>
                      <a:srgbClr val="000000"/>
                    </a:solidFill>
                    <a:latin typeface="Arial"/>
                  </a:rPr>
                  <a:t>Anomaly rate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ZA" sz="1300" b="0" i="0" u="none" strike="noStrike">
                <a:solidFill>
                  <a:srgbClr val="0B2545"/>
                </a:solidFill>
                <a:latin typeface="Calibri"/>
              </a:rPr>
              <a:t>Validation-Set Performance</a:t>
            </a:r>
          </a:p>
        </c:rich>
      </c:tx>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134074"/>
            </a:solidFill>
            <a:effectLst/>
          </c:spPr>
          <c:invertIfNegative val="0"/>
          <c:cat>
            <c:strRef>
              <c:f>Sheet1!$A$2:$A$4</c:f>
              <c:strCache>
                <c:ptCount val="3"/>
                <c:pt idx="0">
                  <c:v>XGBoost</c:v>
                </c:pt>
                <c:pt idx="1">
                  <c:v>Balanced RF</c:v>
                </c:pt>
                <c:pt idx="2">
                  <c:v>CatBoost</c:v>
                </c:pt>
              </c:strCache>
            </c:strRef>
          </c:cat>
          <c:val>
            <c:numRef>
              <c:f>Sheet1!$B$2:$B$4</c:f>
              <c:numCache>
                <c:formatCode>General</c:formatCode>
                <c:ptCount val="3"/>
                <c:pt idx="0">
                  <c:v>0.85099999999999998</c:v>
                </c:pt>
                <c:pt idx="1">
                  <c:v>0.96899999999999997</c:v>
                </c:pt>
                <c:pt idx="2">
                  <c:v>0.83499999999999996</c:v>
                </c:pt>
              </c:numCache>
            </c:numRef>
          </c:val>
          <c:extLst>
            <c:ext xmlns:c16="http://schemas.microsoft.com/office/drawing/2014/chart" uri="{C3380CC4-5D6E-409C-BE32-E72D297353CC}">
              <c16:uniqueId val="{00000000-FD71-454B-8C98-89062766C54C}"/>
            </c:ext>
          </c:extLst>
        </c:ser>
        <c:ser>
          <c:idx val="1"/>
          <c:order val="1"/>
          <c:tx>
            <c:strRef>
              <c:f>Sheet1!$C$1</c:f>
              <c:strCache>
                <c:ptCount val="1"/>
                <c:pt idx="0">
                  <c:v>Recall</c:v>
                </c:pt>
              </c:strCache>
            </c:strRef>
          </c:tx>
          <c:spPr>
            <a:solidFill>
              <a:srgbClr val="8FAADC"/>
            </a:solidFill>
            <a:effectLst/>
          </c:spPr>
          <c:invertIfNegative val="0"/>
          <c:cat>
            <c:strRef>
              <c:f>Sheet1!$A$2:$A$4</c:f>
              <c:strCache>
                <c:ptCount val="3"/>
                <c:pt idx="0">
                  <c:v>XGBoost</c:v>
                </c:pt>
                <c:pt idx="1">
                  <c:v>Balanced RF</c:v>
                </c:pt>
                <c:pt idx="2">
                  <c:v>CatBoost</c:v>
                </c:pt>
              </c:strCache>
            </c:strRef>
          </c:cat>
          <c:val>
            <c:numRef>
              <c:f>Sheet1!$C$2:$C$4</c:f>
              <c:numCache>
                <c:formatCode>General</c:formatCode>
                <c:ptCount val="3"/>
                <c:pt idx="0">
                  <c:v>0.65500000000000003</c:v>
                </c:pt>
                <c:pt idx="1">
                  <c:v>0.72699999999999998</c:v>
                </c:pt>
                <c:pt idx="2">
                  <c:v>0.52200000000000002</c:v>
                </c:pt>
              </c:numCache>
            </c:numRef>
          </c:val>
          <c:extLst>
            <c:ext xmlns:c16="http://schemas.microsoft.com/office/drawing/2014/chart" uri="{C3380CC4-5D6E-409C-BE32-E72D297353CC}">
              <c16:uniqueId val="{00000001-FD71-454B-8C98-89062766C54C}"/>
            </c:ext>
          </c:extLst>
        </c:ser>
        <c:ser>
          <c:idx val="2"/>
          <c:order val="2"/>
          <c:tx>
            <c:strRef>
              <c:f>Sheet1!$D$1</c:f>
              <c:strCache>
                <c:ptCount val="1"/>
                <c:pt idx="0">
                  <c:v>F1-score</c:v>
                </c:pt>
              </c:strCache>
            </c:strRef>
          </c:tx>
          <c:spPr>
            <a:solidFill>
              <a:srgbClr val="F2A541"/>
            </a:solidFill>
            <a:effectLst/>
          </c:spPr>
          <c:invertIfNegative val="0"/>
          <c:cat>
            <c:strRef>
              <c:f>Sheet1!$A$2:$A$4</c:f>
              <c:strCache>
                <c:ptCount val="3"/>
                <c:pt idx="0">
                  <c:v>XGBoost</c:v>
                </c:pt>
                <c:pt idx="1">
                  <c:v>Balanced RF</c:v>
                </c:pt>
                <c:pt idx="2">
                  <c:v>CatBoost</c:v>
                </c:pt>
              </c:strCache>
            </c:strRef>
          </c:cat>
          <c:val>
            <c:numRef>
              <c:f>Sheet1!$D$2:$D$4</c:f>
              <c:numCache>
                <c:formatCode>General</c:formatCode>
                <c:ptCount val="3"/>
                <c:pt idx="0">
                  <c:v>0.74</c:v>
                </c:pt>
                <c:pt idx="1">
                  <c:v>0.83</c:v>
                </c:pt>
                <c:pt idx="2">
                  <c:v>0.64300000000000002</c:v>
                </c:pt>
              </c:numCache>
            </c:numRef>
          </c:val>
          <c:extLst>
            <c:ext xmlns:c16="http://schemas.microsoft.com/office/drawing/2014/chart" uri="{C3380CC4-5D6E-409C-BE32-E72D297353CC}">
              <c16:uniqueId val="{00000002-FD71-454B-8C98-89062766C54C}"/>
            </c:ext>
          </c:extLst>
        </c:ser>
        <c:ser>
          <c:idx val="3"/>
          <c:order val="3"/>
          <c:tx>
            <c:strRef>
              <c:f>Sheet1!$E$1</c:f>
              <c:strCache>
                <c:ptCount val="1"/>
                <c:pt idx="0">
                  <c:v>PR-AUC</c:v>
                </c:pt>
              </c:strCache>
            </c:strRef>
          </c:tx>
          <c:spPr>
            <a:solidFill>
              <a:srgbClr val="0B2545"/>
            </a:solidFill>
            <a:effectLst/>
          </c:spPr>
          <c:invertIfNegative val="0"/>
          <c:cat>
            <c:strRef>
              <c:f>Sheet1!$A$2:$A$4</c:f>
              <c:strCache>
                <c:ptCount val="3"/>
                <c:pt idx="0">
                  <c:v>XGBoost</c:v>
                </c:pt>
                <c:pt idx="1">
                  <c:v>Balanced RF</c:v>
                </c:pt>
                <c:pt idx="2">
                  <c:v>CatBoost</c:v>
                </c:pt>
              </c:strCache>
            </c:strRef>
          </c:cat>
          <c:val>
            <c:numRef>
              <c:f>Sheet1!$E$2:$E$4</c:f>
              <c:numCache>
                <c:formatCode>General</c:formatCode>
                <c:ptCount val="3"/>
                <c:pt idx="0">
                  <c:v>0.77300000000000002</c:v>
                </c:pt>
                <c:pt idx="1">
                  <c:v>0.82399999999999995</c:v>
                </c:pt>
                <c:pt idx="2">
                  <c:v>0.69</c:v>
                </c:pt>
              </c:numCache>
            </c:numRef>
          </c:val>
          <c:extLst>
            <c:ext xmlns:c16="http://schemas.microsoft.com/office/drawing/2014/chart" uri="{C3380CC4-5D6E-409C-BE32-E72D297353CC}">
              <c16:uniqueId val="{00000003-FD71-454B-8C98-89062766C54C}"/>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430"/>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libri"/>
              </a:defRPr>
            </a:pPr>
            <a:r>
              <a:rPr lang="en-ZA" sz="1300" b="0" i="0" u="none" strike="noStrike">
                <a:solidFill>
                  <a:srgbClr val="0B2545"/>
                </a:solidFill>
                <a:latin typeface="Calibri"/>
              </a:rPr>
              <a:t>Predicted Class Split</a:t>
            </a:r>
          </a:p>
        </c:rich>
      </c:tx>
      <c:layout>
        <c:manualLayout>
          <c:xMode val="edge"/>
          <c:yMode val="edge"/>
          <c:x val="3.0599765454850072E-2"/>
          <c:y val="2.2609819121447029E-2"/>
        </c:manualLayout>
      </c:layout>
      <c:overlay val="0"/>
    </c:title>
    <c:autoTitleDeleted val="0"/>
    <c:plotArea>
      <c:layout/>
      <c:pieChart>
        <c:varyColors val="1"/>
        <c:ser>
          <c:idx val="0"/>
          <c:order val="0"/>
          <c:tx>
            <c:strRef>
              <c:f>Sheet1!$B$1</c:f>
              <c:strCache>
                <c:ptCount val="1"/>
                <c:pt idx="0">
                  <c:v>Test predictions</c:v>
                </c:pt>
              </c:strCache>
            </c:strRef>
          </c:tx>
          <c:spPr>
            <a:solidFill>
              <a:schemeClr val="accent1"/>
            </a:solidFill>
            <a:ln w="9525" cap="flat">
              <a:solidFill>
                <a:srgbClr val="F9F9F9"/>
              </a:solidFill>
              <a:prstDash val="solid"/>
              <a:round/>
            </a:ln>
            <a:effectLst/>
          </c:spPr>
          <c:dPt>
            <c:idx val="0"/>
            <c:bubble3D val="0"/>
            <c:spPr>
              <a:solidFill>
                <a:srgbClr val="134074"/>
              </a:solidFill>
              <a:effectLst/>
            </c:spPr>
            <c:extLst>
              <c:ext xmlns:c16="http://schemas.microsoft.com/office/drawing/2014/chart" uri="{C3380CC4-5D6E-409C-BE32-E72D297353CC}">
                <c16:uniqueId val="{00000001-F8D6-422C-BD89-7A4201B87CD6}"/>
              </c:ext>
            </c:extLst>
          </c:dPt>
          <c:dPt>
            <c:idx val="1"/>
            <c:bubble3D val="0"/>
            <c:spPr>
              <a:solidFill>
                <a:srgbClr val="F2A541"/>
              </a:solidFill>
              <a:effectLst/>
            </c:spPr>
            <c:extLst>
              <c:ext xmlns:c16="http://schemas.microsoft.com/office/drawing/2014/chart" uri="{C3380CC4-5D6E-409C-BE32-E72D297353CC}">
                <c16:uniqueId val="{00000003-F8D6-422C-BD89-7A4201B87CD6}"/>
              </c:ext>
            </c:extLst>
          </c:dPt>
          <c:dLbls>
            <c:dLbl>
              <c:idx val="0"/>
              <c:numFmt formatCode="0.00&quot;%&quot;" sourceLinked="0"/>
              <c:spPr/>
              <c:txPr>
                <a:bodyPr/>
                <a:lstStyle/>
                <a:p>
                  <a:pPr>
                    <a:defRPr sz="1200" b="0" i="0" u="none" strike="noStrike">
                      <a:solidFill>
                        <a:srgbClr val="1B2430"/>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8D6-422C-BD89-7A4201B87CD6}"/>
                </c:ext>
              </c:extLst>
            </c:dLbl>
            <c:dLbl>
              <c:idx val="1"/>
              <c:numFmt formatCode="0.00&quot;%&quot;" sourceLinked="0"/>
              <c:spPr/>
              <c:txPr>
                <a:bodyPr/>
                <a:lstStyle/>
                <a:p>
                  <a:pPr>
                    <a:defRPr sz="1200" b="0" i="0" u="none" strike="noStrike">
                      <a:solidFill>
                        <a:srgbClr val="1B2430"/>
                      </a:solidFill>
                      <a:latin typeface="Arial"/>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8D6-422C-BD89-7A4201B87CD6}"/>
                </c:ext>
              </c:extLst>
            </c:dLbl>
            <c:numFmt formatCode="0.00&quot;%&quot;"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Normal</c:v>
                </c:pt>
                <c:pt idx="1">
                  <c:v>Anomalous</c:v>
                </c:pt>
              </c:strCache>
            </c:strRef>
          </c:cat>
          <c:val>
            <c:numRef>
              <c:f>Sheet1!$B$2:$B$3</c:f>
              <c:numCache>
                <c:formatCode>General</c:formatCode>
                <c:ptCount val="2"/>
                <c:pt idx="0">
                  <c:v>98.94</c:v>
                </c:pt>
                <c:pt idx="1">
                  <c:v>1.06</c:v>
                </c:pt>
              </c:numCache>
            </c:numRef>
          </c:val>
          <c:extLst>
            <c:ext xmlns:c16="http://schemas.microsoft.com/office/drawing/2014/chart" uri="{C3380CC4-5D6E-409C-BE32-E72D297353CC}">
              <c16:uniqueId val="{00000004-F8D6-422C-BD89-7A4201B87CD6}"/>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1.677649336386123E-3"/>
          <c:y val="0.93377408492543079"/>
          <c:w val="0.41744848383313787"/>
          <c:h val="6.6225915074569167E-2"/>
        </c:manualLayout>
      </c:layout>
      <c:overlay val="0"/>
      <c:txPr>
        <a:bodyPr/>
        <a:lstStyle/>
        <a:p>
          <a:pPr>
            <a:defRPr sz="1200">
              <a:solidFill>
                <a:srgbClr val="1B2430"/>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B2545"/>
                </a:solidFill>
                <a:latin typeface="Calibri"/>
              </a:defRPr>
            </a:pPr>
            <a:r>
              <a:rPr lang="en-US" sz="1250" b="0" i="0" u="none" strike="noStrike">
                <a:solidFill>
                  <a:srgbClr val="0B2545"/>
                </a:solidFill>
                <a:latin typeface="Calibri"/>
              </a:rPr>
              <a:t>Top 10 Buildings by Predicted Anomalies</a:t>
            </a:r>
          </a:p>
        </c:rich>
      </c:tx>
      <c:overlay val="0"/>
    </c:title>
    <c:autoTitleDeleted val="0"/>
    <c:plotArea>
      <c:layout/>
      <c:barChart>
        <c:barDir val="bar"/>
        <c:grouping val="clustered"/>
        <c:varyColors val="0"/>
        <c:ser>
          <c:idx val="0"/>
          <c:order val="0"/>
          <c:tx>
            <c:strRef>
              <c:f>Sheet1!$B$1</c:f>
              <c:strCache>
                <c:ptCount val="1"/>
                <c:pt idx="0">
                  <c:v>Predicted anomalies</c:v>
                </c:pt>
              </c:strCache>
            </c:strRef>
          </c:tx>
          <c:spPr>
            <a:solidFill>
              <a:srgbClr val="F2A541"/>
            </a:solidFill>
            <a:effectLst/>
          </c:spPr>
          <c:invertIfNegative val="0"/>
          <c:dLbls>
            <c:numFmt formatCode="#,##0" sourceLinked="0"/>
            <c:spPr>
              <a:noFill/>
              <a:ln>
                <a:noFill/>
              </a:ln>
              <a:effectLst/>
            </c:spPr>
            <c:txPr>
              <a:bodyPr/>
              <a:lstStyle/>
              <a:p>
                <a:pPr>
                  <a:defRPr sz="10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984</c:v>
                </c:pt>
                <c:pt idx="1">
                  <c:v>956</c:v>
                </c:pt>
                <c:pt idx="2">
                  <c:v>738</c:v>
                </c:pt>
                <c:pt idx="3">
                  <c:v>943</c:v>
                </c:pt>
                <c:pt idx="4">
                  <c:v>963</c:v>
                </c:pt>
                <c:pt idx="5">
                  <c:v>927</c:v>
                </c:pt>
                <c:pt idx="6">
                  <c:v>878</c:v>
                </c:pt>
                <c:pt idx="7">
                  <c:v>724</c:v>
                </c:pt>
                <c:pt idx="8">
                  <c:v>127</c:v>
                </c:pt>
                <c:pt idx="9">
                  <c:v>684</c:v>
                </c:pt>
              </c:strCache>
            </c:strRef>
          </c:cat>
          <c:val>
            <c:numRef>
              <c:f>Sheet1!$B$2:$B$11</c:f>
              <c:numCache>
                <c:formatCode>General</c:formatCode>
                <c:ptCount val="10"/>
                <c:pt idx="0">
                  <c:v>342</c:v>
                </c:pt>
                <c:pt idx="1">
                  <c:v>323</c:v>
                </c:pt>
                <c:pt idx="2">
                  <c:v>320</c:v>
                </c:pt>
                <c:pt idx="3">
                  <c:v>272</c:v>
                </c:pt>
                <c:pt idx="4">
                  <c:v>261</c:v>
                </c:pt>
                <c:pt idx="5">
                  <c:v>248</c:v>
                </c:pt>
                <c:pt idx="6">
                  <c:v>239</c:v>
                </c:pt>
                <c:pt idx="7">
                  <c:v>235</c:v>
                </c:pt>
                <c:pt idx="8">
                  <c:v>232</c:v>
                </c:pt>
                <c:pt idx="9">
                  <c:v>225</c:v>
                </c:pt>
              </c:numCache>
            </c:numRef>
          </c:val>
          <c:extLst>
            <c:ext xmlns:c16="http://schemas.microsoft.com/office/drawing/2014/chart" uri="{C3380CC4-5D6E-409C-BE32-E72D297353CC}">
              <c16:uniqueId val="{00000000-7332-4CDA-9524-C94D554930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title>
          <c:tx>
            <c:rich>
              <a:bodyPr/>
              <a:lstStyle/>
              <a:p>
                <a:pPr>
                  <a:defRPr/>
                </a:pPr>
                <a:r>
                  <a:rPr lang="en-ZA" dirty="0"/>
                  <a:t>Building _ID</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3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176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1ED8-8372-72F8-CEDE-14E1546BE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52131-3DD8-DD01-EC10-260131C57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FAA37-CE81-5C54-4D43-9B49E2AA0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CD5190-B031-84B2-040B-C093B592CEE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7697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822960"/>
            <a:ext cx="82296" cy="82296"/>
          </a:xfrm>
          <a:prstGeom prst="ellipse">
            <a:avLst/>
          </a:prstGeom>
          <a:solidFill>
            <a:srgbClr val="F2A541"/>
          </a:solidFill>
          <a:ln/>
        </p:spPr>
        <p:txBody>
          <a:bodyPr/>
          <a:lstStyle/>
          <a:p>
            <a:endParaRPr lang="en-ZA"/>
          </a:p>
        </p:txBody>
      </p:sp>
      <p:sp>
        <p:nvSpPr>
          <p:cNvPr id="3" name="Shape 1"/>
          <p:cNvSpPr/>
          <p:nvPr/>
        </p:nvSpPr>
        <p:spPr>
          <a:xfrm>
            <a:off x="10607040" y="1371600"/>
            <a:ext cx="82296" cy="82296"/>
          </a:xfrm>
          <a:prstGeom prst="ellipse">
            <a:avLst/>
          </a:prstGeom>
          <a:solidFill>
            <a:srgbClr val="134074"/>
          </a:solidFill>
          <a:ln/>
        </p:spPr>
        <p:txBody>
          <a:bodyPr/>
          <a:lstStyle/>
          <a:p>
            <a:endParaRPr lang="en-ZA"/>
          </a:p>
        </p:txBody>
      </p:sp>
      <p:sp>
        <p:nvSpPr>
          <p:cNvPr id="4" name="Shape 2"/>
          <p:cNvSpPr/>
          <p:nvPr/>
        </p:nvSpPr>
        <p:spPr>
          <a:xfrm>
            <a:off x="9966960" y="2103120"/>
            <a:ext cx="82296" cy="82296"/>
          </a:xfrm>
          <a:prstGeom prst="ellipse">
            <a:avLst/>
          </a:prstGeom>
          <a:solidFill>
            <a:srgbClr val="134074"/>
          </a:solidFill>
          <a:ln/>
        </p:spPr>
        <p:txBody>
          <a:bodyPr/>
          <a:lstStyle/>
          <a:p>
            <a:endParaRPr lang="en-ZA"/>
          </a:p>
        </p:txBody>
      </p:sp>
      <p:sp>
        <p:nvSpPr>
          <p:cNvPr id="5" name="Shape 3"/>
          <p:cNvSpPr/>
          <p:nvPr/>
        </p:nvSpPr>
        <p:spPr>
          <a:xfrm>
            <a:off x="11064240" y="2377440"/>
            <a:ext cx="82296" cy="82296"/>
          </a:xfrm>
          <a:prstGeom prst="ellipse">
            <a:avLst/>
          </a:prstGeom>
          <a:solidFill>
            <a:srgbClr val="F2A541"/>
          </a:solidFill>
          <a:ln/>
        </p:spPr>
        <p:txBody>
          <a:bodyPr/>
          <a:lstStyle/>
          <a:p>
            <a:endParaRPr lang="en-ZA"/>
          </a:p>
        </p:txBody>
      </p:sp>
      <p:sp>
        <p:nvSpPr>
          <p:cNvPr id="6" name="Shape 4"/>
          <p:cNvSpPr/>
          <p:nvPr/>
        </p:nvSpPr>
        <p:spPr>
          <a:xfrm>
            <a:off x="10424160" y="3291840"/>
            <a:ext cx="82296" cy="82296"/>
          </a:xfrm>
          <a:prstGeom prst="ellipse">
            <a:avLst/>
          </a:prstGeom>
          <a:solidFill>
            <a:srgbClr val="134074"/>
          </a:solidFill>
          <a:ln/>
        </p:spPr>
        <p:txBody>
          <a:bodyPr/>
          <a:lstStyle/>
          <a:p>
            <a:endParaRPr lang="en-ZA"/>
          </a:p>
        </p:txBody>
      </p:sp>
      <p:sp>
        <p:nvSpPr>
          <p:cNvPr id="7" name="Shape 5"/>
          <p:cNvSpPr/>
          <p:nvPr/>
        </p:nvSpPr>
        <p:spPr>
          <a:xfrm>
            <a:off x="11338560" y="1097280"/>
            <a:ext cx="82296" cy="82296"/>
          </a:xfrm>
          <a:prstGeom prst="ellipse">
            <a:avLst/>
          </a:prstGeom>
          <a:solidFill>
            <a:srgbClr val="134074"/>
          </a:solidFill>
          <a:ln/>
        </p:spPr>
        <p:txBody>
          <a:bodyPr/>
          <a:lstStyle/>
          <a:p>
            <a:endParaRPr lang="en-ZA"/>
          </a:p>
        </p:txBody>
      </p:sp>
      <p:sp>
        <p:nvSpPr>
          <p:cNvPr id="8" name="Shape 6"/>
          <p:cNvSpPr/>
          <p:nvPr/>
        </p:nvSpPr>
        <p:spPr>
          <a:xfrm>
            <a:off x="9326880" y="1645920"/>
            <a:ext cx="82296" cy="82296"/>
          </a:xfrm>
          <a:prstGeom prst="ellipse">
            <a:avLst/>
          </a:prstGeom>
          <a:solidFill>
            <a:srgbClr val="F2A541"/>
          </a:solidFill>
          <a:ln/>
        </p:spPr>
        <p:txBody>
          <a:bodyPr/>
          <a:lstStyle/>
          <a:p>
            <a:endParaRPr lang="en-ZA"/>
          </a:p>
        </p:txBody>
      </p:sp>
      <p:sp>
        <p:nvSpPr>
          <p:cNvPr id="9" name="Shape 7"/>
          <p:cNvSpPr/>
          <p:nvPr/>
        </p:nvSpPr>
        <p:spPr>
          <a:xfrm>
            <a:off x="11612880" y="3108960"/>
            <a:ext cx="82296" cy="82296"/>
          </a:xfrm>
          <a:prstGeom prst="ellipse">
            <a:avLst/>
          </a:prstGeom>
          <a:solidFill>
            <a:srgbClr val="134074"/>
          </a:solidFill>
          <a:ln/>
        </p:spPr>
        <p:txBody>
          <a:bodyPr/>
          <a:lstStyle/>
          <a:p>
            <a:endParaRPr lang="en-ZA"/>
          </a:p>
        </p:txBody>
      </p:sp>
      <p:sp>
        <p:nvSpPr>
          <p:cNvPr id="10" name="Shape 8"/>
          <p:cNvSpPr/>
          <p:nvPr/>
        </p:nvSpPr>
        <p:spPr>
          <a:xfrm>
            <a:off x="8961120" y="2743200"/>
            <a:ext cx="82296" cy="82296"/>
          </a:xfrm>
          <a:prstGeom prst="ellipse">
            <a:avLst/>
          </a:prstGeom>
          <a:solidFill>
            <a:srgbClr val="134074"/>
          </a:solidFill>
          <a:ln/>
        </p:spPr>
        <p:txBody>
          <a:bodyPr/>
          <a:lstStyle/>
          <a:p>
            <a:endParaRPr lang="en-ZA"/>
          </a:p>
        </p:txBody>
      </p:sp>
      <p:sp>
        <p:nvSpPr>
          <p:cNvPr id="11" name="Shape 9"/>
          <p:cNvSpPr/>
          <p:nvPr/>
        </p:nvSpPr>
        <p:spPr>
          <a:xfrm>
            <a:off x="9692640" y="868680"/>
            <a:ext cx="914400" cy="502920"/>
          </a:xfrm>
          <a:prstGeom prst="line">
            <a:avLst/>
          </a:prstGeom>
          <a:noFill/>
          <a:ln w="12700">
            <a:solidFill>
              <a:srgbClr val="2B4E7A"/>
            </a:solidFill>
            <a:prstDash val="solid"/>
          </a:ln>
        </p:spPr>
        <p:txBody>
          <a:bodyPr/>
          <a:lstStyle/>
          <a:p>
            <a:endParaRPr lang="en-ZA"/>
          </a:p>
        </p:txBody>
      </p:sp>
      <p:sp>
        <p:nvSpPr>
          <p:cNvPr id="12" name="Shape 10"/>
          <p:cNvSpPr/>
          <p:nvPr/>
        </p:nvSpPr>
        <p:spPr>
          <a:xfrm>
            <a:off x="10607040" y="1417320"/>
            <a:ext cx="0" cy="685800"/>
          </a:xfrm>
          <a:prstGeom prst="line">
            <a:avLst/>
          </a:prstGeom>
          <a:noFill/>
          <a:ln w="12700">
            <a:solidFill>
              <a:srgbClr val="2B4E7A"/>
            </a:solidFill>
            <a:prstDash val="solid"/>
          </a:ln>
        </p:spPr>
        <p:txBody>
          <a:bodyPr/>
          <a:lstStyle/>
          <a:p>
            <a:endParaRPr lang="en-ZA"/>
          </a:p>
        </p:txBody>
      </p:sp>
      <p:sp>
        <p:nvSpPr>
          <p:cNvPr id="13" name="Shape 11"/>
          <p:cNvSpPr/>
          <p:nvPr/>
        </p:nvSpPr>
        <p:spPr>
          <a:xfrm>
            <a:off x="9966960" y="2148840"/>
            <a:ext cx="1097280" cy="228600"/>
          </a:xfrm>
          <a:prstGeom prst="line">
            <a:avLst/>
          </a:prstGeom>
          <a:noFill/>
          <a:ln w="12700">
            <a:solidFill>
              <a:srgbClr val="2B4E7A"/>
            </a:solidFill>
            <a:prstDash val="solid"/>
          </a:ln>
        </p:spPr>
        <p:txBody>
          <a:bodyPr/>
          <a:lstStyle/>
          <a:p>
            <a:endParaRPr lang="en-ZA"/>
          </a:p>
        </p:txBody>
      </p:sp>
      <p:sp>
        <p:nvSpPr>
          <p:cNvPr id="14" name="Shape 12"/>
          <p:cNvSpPr/>
          <p:nvPr/>
        </p:nvSpPr>
        <p:spPr>
          <a:xfrm>
            <a:off x="10424160" y="3337560"/>
            <a:ext cx="914400" cy="0"/>
          </a:xfrm>
          <a:prstGeom prst="line">
            <a:avLst/>
          </a:prstGeom>
          <a:noFill/>
          <a:ln w="12700">
            <a:solidFill>
              <a:srgbClr val="2B4E7A"/>
            </a:solidFill>
            <a:prstDash val="solid"/>
          </a:ln>
        </p:spPr>
        <p:txBody>
          <a:bodyPr/>
          <a:lstStyle/>
          <a:p>
            <a:endParaRPr lang="en-ZA"/>
          </a:p>
        </p:txBody>
      </p:sp>
      <p:sp>
        <p:nvSpPr>
          <p:cNvPr id="15" name="Shape 13"/>
          <p:cNvSpPr/>
          <p:nvPr/>
        </p:nvSpPr>
        <p:spPr>
          <a:xfrm>
            <a:off x="9326880" y="1691640"/>
            <a:ext cx="1097280" cy="1051560"/>
          </a:xfrm>
          <a:prstGeom prst="line">
            <a:avLst/>
          </a:prstGeom>
          <a:noFill/>
          <a:ln w="12700">
            <a:solidFill>
              <a:srgbClr val="2B4E7A"/>
            </a:solidFill>
            <a:prstDash val="solid"/>
          </a:ln>
        </p:spPr>
        <p:txBody>
          <a:bodyPr/>
          <a:lstStyle/>
          <a:p>
            <a:endParaRPr lang="en-ZA"/>
          </a:p>
        </p:txBody>
      </p:sp>
      <p:sp>
        <p:nvSpPr>
          <p:cNvPr id="16" name="Text 14"/>
          <p:cNvSpPr/>
          <p:nvPr/>
        </p:nvSpPr>
        <p:spPr>
          <a:xfrm>
            <a:off x="640080" y="594360"/>
            <a:ext cx="8229600" cy="365760"/>
          </a:xfrm>
          <a:prstGeom prst="rect">
            <a:avLst/>
          </a:prstGeom>
          <a:noFill/>
          <a:ln/>
        </p:spPr>
        <p:txBody>
          <a:bodyPr wrap="square" rtlCol="0" anchor="ctr"/>
          <a:lstStyle/>
          <a:p>
            <a:pPr marL="0" indent="0">
              <a:buNone/>
            </a:pPr>
            <a:r>
              <a:rPr lang="en-US" b="1" kern="0" spc="200" dirty="0">
                <a:solidFill>
                  <a:srgbClr val="F2A541"/>
                </a:solidFill>
                <a:latin typeface="Calibri" pitchFamily="34" charset="0"/>
                <a:ea typeface="Calibri" pitchFamily="34" charset="-122"/>
                <a:cs typeface="Calibri" pitchFamily="34" charset="-120"/>
              </a:rPr>
              <a:t>EDAB6808| </a:t>
            </a:r>
            <a:r>
              <a:rPr lang="en-US" b="1" kern="0" spc="200">
                <a:solidFill>
                  <a:srgbClr val="F2A541"/>
                </a:solidFill>
                <a:latin typeface="Calibri" pitchFamily="34" charset="0"/>
                <a:ea typeface="Calibri" pitchFamily="34" charset="-122"/>
                <a:cs typeface="Calibri" pitchFamily="34" charset="-120"/>
              </a:rPr>
              <a:t>Assignment 2, </a:t>
            </a:r>
            <a:r>
              <a:rPr lang="en-US" b="1" kern="0" spc="200" dirty="0">
                <a:solidFill>
                  <a:srgbClr val="F2A541"/>
                </a:solidFill>
                <a:latin typeface="Calibri" pitchFamily="34" charset="0"/>
                <a:ea typeface="Calibri" pitchFamily="34" charset="-122"/>
                <a:cs typeface="Calibri" pitchFamily="34" charset="-120"/>
              </a:rPr>
              <a:t>Question 1</a:t>
            </a:r>
            <a:endParaRPr lang="en-US" dirty="0"/>
          </a:p>
        </p:txBody>
      </p:sp>
      <p:sp>
        <p:nvSpPr>
          <p:cNvPr id="17" name="Text 15"/>
          <p:cNvSpPr/>
          <p:nvPr/>
        </p:nvSpPr>
        <p:spPr>
          <a:xfrm>
            <a:off x="548640" y="1271524"/>
            <a:ext cx="8778240" cy="1920240"/>
          </a:xfrm>
          <a:prstGeom prst="rect">
            <a:avLst/>
          </a:prstGeom>
          <a:noFill/>
          <a:ln/>
        </p:spPr>
        <p:txBody>
          <a:bodyPr wrap="square" rtlCol="0" anchor="ctr"/>
          <a:lstStyle/>
          <a:p>
            <a:pPr marL="0" indent="0">
              <a:lnSpc>
                <a:spcPts val="4800"/>
              </a:lnSpc>
              <a:buNone/>
            </a:pPr>
            <a:r>
              <a:rPr lang="en-US" sz="4200" b="1" dirty="0">
                <a:solidFill>
                  <a:srgbClr val="FFFFFF"/>
                </a:solidFill>
                <a:latin typeface="Cambria" pitchFamily="34" charset="0"/>
                <a:ea typeface="Cambria" pitchFamily="34" charset="-122"/>
                <a:cs typeface="Cambria" pitchFamily="34" charset="-120"/>
              </a:rPr>
              <a:t>Anomaly Detection in</a:t>
            </a:r>
            <a:endParaRPr lang="en-US" sz="4200" dirty="0"/>
          </a:p>
          <a:p>
            <a:pPr marL="0" indent="0">
              <a:lnSpc>
                <a:spcPts val="4800"/>
              </a:lnSpc>
              <a:buNone/>
            </a:pPr>
            <a:r>
              <a:rPr lang="en-US" sz="4200" b="1" dirty="0">
                <a:solidFill>
                  <a:srgbClr val="FFFFFF"/>
                </a:solidFill>
                <a:latin typeface="Cambria" pitchFamily="34" charset="0"/>
                <a:ea typeface="Cambria" pitchFamily="34" charset="-122"/>
                <a:cs typeface="Cambria" pitchFamily="34" charset="-120"/>
              </a:rPr>
              <a:t>Electricity Meter Readings</a:t>
            </a:r>
            <a:endParaRPr lang="en-US" sz="4200" dirty="0"/>
          </a:p>
        </p:txBody>
      </p:sp>
      <p:sp>
        <p:nvSpPr>
          <p:cNvPr id="19" name="Shape 17"/>
          <p:cNvSpPr/>
          <p:nvPr/>
        </p:nvSpPr>
        <p:spPr>
          <a:xfrm>
            <a:off x="548640" y="4742180"/>
            <a:ext cx="8138160" cy="1234440"/>
          </a:xfrm>
          <a:prstGeom prst="roundRect">
            <a:avLst>
              <a:gd name="adj" fmla="val 5926"/>
            </a:avLst>
          </a:prstGeom>
          <a:solidFill>
            <a:srgbClr val="0F3562"/>
          </a:solidFill>
          <a:ln/>
        </p:spPr>
        <p:txBody>
          <a:bodyPr/>
          <a:lstStyle/>
          <a:p>
            <a:endParaRPr lang="en-ZA" sz="2400" dirty="0"/>
          </a:p>
        </p:txBody>
      </p:sp>
      <p:sp>
        <p:nvSpPr>
          <p:cNvPr id="20" name="Text 18"/>
          <p:cNvSpPr/>
          <p:nvPr/>
        </p:nvSpPr>
        <p:spPr>
          <a:xfrm>
            <a:off x="868680" y="4864608"/>
            <a:ext cx="3657600" cy="274320"/>
          </a:xfrm>
          <a:prstGeom prst="rect">
            <a:avLst/>
          </a:prstGeom>
          <a:noFill/>
          <a:ln/>
        </p:spPr>
        <p:txBody>
          <a:bodyPr wrap="square" rtlCol="0" anchor="ctr"/>
          <a:lstStyle/>
          <a:p>
            <a:pPr marL="0" indent="0">
              <a:buNone/>
            </a:pPr>
            <a:r>
              <a:rPr lang="en-US" sz="1000" b="1" kern="0" spc="150" dirty="0">
                <a:solidFill>
                  <a:srgbClr val="F2A541"/>
                </a:solidFill>
                <a:latin typeface="Calibri" pitchFamily="34" charset="0"/>
                <a:ea typeface="Calibri" pitchFamily="34" charset="-122"/>
                <a:cs typeface="Calibri" pitchFamily="34" charset="-120"/>
              </a:rPr>
              <a:t>GROUP MEMBERS</a:t>
            </a:r>
            <a:endParaRPr lang="en-US" sz="1000" dirty="0"/>
          </a:p>
        </p:txBody>
      </p:sp>
      <p:sp>
        <p:nvSpPr>
          <p:cNvPr id="21" name="Text 19"/>
          <p:cNvSpPr/>
          <p:nvPr/>
        </p:nvSpPr>
        <p:spPr>
          <a:xfrm>
            <a:off x="868680" y="5138928"/>
            <a:ext cx="7315200" cy="320040"/>
          </a:xfrm>
          <a:prstGeom prst="rect">
            <a:avLst/>
          </a:prstGeom>
          <a:noFill/>
          <a:ln/>
        </p:spPr>
        <p:txBody>
          <a:bodyPr wrap="square" rtlCol="0" anchor="ctr"/>
          <a:lstStyle/>
          <a:p>
            <a:pPr marL="0" indent="0">
              <a:buNone/>
            </a:pPr>
            <a:r>
              <a:rPr lang="en-US" dirty="0" err="1">
                <a:solidFill>
                  <a:srgbClr val="FFFFFF"/>
                </a:solidFill>
                <a:latin typeface="Calibri" pitchFamily="34" charset="0"/>
                <a:ea typeface="Calibri" pitchFamily="34" charset="-122"/>
                <a:cs typeface="Calibri" pitchFamily="34" charset="-120"/>
              </a:rPr>
              <a:t>Mamello</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Malape</a:t>
            </a:r>
            <a:r>
              <a:rPr lang="en-US" dirty="0">
                <a:solidFill>
                  <a:srgbClr val="FFFFFF"/>
                </a:solidFill>
                <a:latin typeface="Calibri" pitchFamily="34" charset="0"/>
                <a:ea typeface="Calibri" pitchFamily="34" charset="-122"/>
                <a:cs typeface="Calibri" pitchFamily="34" charset="-120"/>
              </a:rPr>
              <a:t>  2023232750</a:t>
            </a:r>
            <a:endParaRPr lang="en-US" dirty="0"/>
          </a:p>
        </p:txBody>
      </p:sp>
      <p:sp>
        <p:nvSpPr>
          <p:cNvPr id="22" name="Text 20"/>
          <p:cNvSpPr/>
          <p:nvPr/>
        </p:nvSpPr>
        <p:spPr>
          <a:xfrm>
            <a:off x="868680" y="5468112"/>
            <a:ext cx="7315200" cy="320040"/>
          </a:xfrm>
          <a:prstGeom prst="rect">
            <a:avLst/>
          </a:prstGeom>
          <a:noFill/>
          <a:ln/>
        </p:spPr>
        <p:txBody>
          <a:bodyPr wrap="square" rtlCol="0" anchor="ctr"/>
          <a:lstStyle/>
          <a:p>
            <a:pPr marL="0" indent="0">
              <a:buNone/>
            </a:pPr>
            <a:r>
              <a:rPr lang="en-US" dirty="0">
                <a:solidFill>
                  <a:srgbClr val="FFFFFF"/>
                </a:solidFill>
                <a:latin typeface="Calibri" pitchFamily="34" charset="0"/>
                <a:ea typeface="Calibri" pitchFamily="34" charset="-122"/>
                <a:cs typeface="Calibri" pitchFamily="34" charset="-120"/>
              </a:rPr>
              <a:t>Boipelo Letwaba  2024053890</a:t>
            </a:r>
            <a:endParaRPr lang="en-US" dirty="0"/>
          </a:p>
        </p:txBody>
      </p:sp>
      <p:sp>
        <p:nvSpPr>
          <p:cNvPr id="23" name="Text 21"/>
          <p:cNvSpPr/>
          <p:nvPr/>
        </p:nvSpPr>
        <p:spPr>
          <a:xfrm>
            <a:off x="594360" y="6355080"/>
            <a:ext cx="914400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3316"/>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594360" y="1417320"/>
            <a:ext cx="6309360" cy="1828800"/>
          </a:xfrm>
          <a:prstGeom prst="rect">
            <a:avLst/>
          </a:prstGeom>
          <a:noFill/>
          <a:ln/>
        </p:spPr>
        <p:txBody>
          <a:bodyPr wrap="square" rtlCol="0" anchor="ctr"/>
          <a:lstStyle/>
          <a:p>
            <a:pPr marL="0" indent="0" algn="just">
              <a:lnSpc>
                <a:spcPts val="2200"/>
              </a:lnSpc>
              <a:buNone/>
            </a:pPr>
            <a:r>
              <a:rPr lang="en-US" sz="1600" dirty="0">
                <a:solidFill>
                  <a:srgbClr val="1B2430"/>
                </a:solidFill>
                <a:latin typeface="Calibri" pitchFamily="34" charset="0"/>
                <a:ea typeface="Calibri" pitchFamily="34" charset="-122"/>
                <a:cs typeface="Calibri" pitchFamily="34" charset="-120"/>
              </a:rPr>
              <a:t>Energy providers cannot manually review millions of hourly meter readings. An automated, explainable classifier is needed to flag meter faults, unusual occupancy or equipment behaviour, and possible billing irregularities, while keeping false alarms low enough that flagged readings are worth investigating.</a:t>
            </a:r>
            <a:endParaRPr lang="en-US" sz="1600" dirty="0"/>
          </a:p>
        </p:txBody>
      </p:sp>
      <p:sp>
        <p:nvSpPr>
          <p:cNvPr id="9" name="Shape 7"/>
          <p:cNvSpPr/>
          <p:nvPr/>
        </p:nvSpPr>
        <p:spPr>
          <a:xfrm>
            <a:off x="594360" y="3506724"/>
            <a:ext cx="310896" cy="310896"/>
          </a:xfrm>
          <a:prstGeom prst="ellipse">
            <a:avLst/>
          </a:prstGeom>
          <a:solidFill>
            <a:srgbClr val="F2A541"/>
          </a:solidFill>
          <a:ln/>
        </p:spPr>
        <p:txBody>
          <a:bodyPr/>
          <a:lstStyle/>
          <a:p>
            <a:endParaRPr lang="en-ZA" sz="1600" dirty="0"/>
          </a:p>
        </p:txBody>
      </p:sp>
      <p:sp>
        <p:nvSpPr>
          <p:cNvPr id="10" name="Text 8"/>
          <p:cNvSpPr/>
          <p:nvPr/>
        </p:nvSpPr>
        <p:spPr>
          <a:xfrm>
            <a:off x="603504" y="3514344"/>
            <a:ext cx="310896" cy="310896"/>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1</a:t>
            </a:r>
            <a:endParaRPr lang="en-US" sz="1600" dirty="0"/>
          </a:p>
        </p:txBody>
      </p:sp>
      <p:sp>
        <p:nvSpPr>
          <p:cNvPr id="11" name="Text 9"/>
          <p:cNvSpPr/>
          <p:nvPr/>
        </p:nvSpPr>
        <p:spPr>
          <a:xfrm>
            <a:off x="1005840" y="3501644"/>
            <a:ext cx="5760720" cy="32004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Severe class imbalance</a:t>
            </a:r>
            <a:endParaRPr lang="en-US" sz="1600" dirty="0"/>
          </a:p>
        </p:txBody>
      </p:sp>
      <p:sp>
        <p:nvSpPr>
          <p:cNvPr id="12" name="Text 10"/>
          <p:cNvSpPr/>
          <p:nvPr/>
        </p:nvSpPr>
        <p:spPr>
          <a:xfrm>
            <a:off x="1005840" y="3840480"/>
            <a:ext cx="5760720" cy="502920"/>
          </a:xfrm>
          <a:prstGeom prst="rect">
            <a:avLst/>
          </a:prstGeom>
          <a:noFill/>
          <a:ln/>
        </p:spPr>
        <p:txBody>
          <a:bodyPr wrap="square" rtlCol="0" anchor="ctr"/>
          <a:lstStyle/>
          <a:p>
            <a:pPr marL="0" indent="0">
              <a:buNone/>
            </a:pPr>
            <a:r>
              <a:rPr lang="en-US" sz="1600" dirty="0">
                <a:ea typeface="Calibri" pitchFamily="34" charset="-122"/>
                <a:cs typeface="Calibri" pitchFamily="34" charset="-120"/>
              </a:rPr>
              <a:t>Only 2% of readings are anomalous — accuracy alone is meaningless.</a:t>
            </a:r>
            <a:endParaRPr lang="en-US" sz="1600" dirty="0"/>
          </a:p>
        </p:txBody>
      </p:sp>
      <p:sp>
        <p:nvSpPr>
          <p:cNvPr id="13" name="Shape 11"/>
          <p:cNvSpPr/>
          <p:nvPr/>
        </p:nvSpPr>
        <p:spPr>
          <a:xfrm>
            <a:off x="579120" y="4864608"/>
            <a:ext cx="310896" cy="310896"/>
          </a:xfrm>
          <a:prstGeom prst="ellipse">
            <a:avLst/>
          </a:prstGeom>
          <a:solidFill>
            <a:srgbClr val="F2A541"/>
          </a:solidFill>
          <a:ln/>
        </p:spPr>
        <p:txBody>
          <a:bodyPr/>
          <a:lstStyle/>
          <a:p>
            <a:endParaRPr lang="en-ZA" sz="1600"/>
          </a:p>
        </p:txBody>
      </p:sp>
      <p:sp>
        <p:nvSpPr>
          <p:cNvPr id="14" name="Text 12"/>
          <p:cNvSpPr/>
          <p:nvPr/>
        </p:nvSpPr>
        <p:spPr>
          <a:xfrm>
            <a:off x="594360" y="4861052"/>
            <a:ext cx="310896" cy="310896"/>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2</a:t>
            </a:r>
            <a:endParaRPr lang="en-US" sz="1600" dirty="0"/>
          </a:p>
        </p:txBody>
      </p:sp>
      <p:sp>
        <p:nvSpPr>
          <p:cNvPr id="15" name="Text 13"/>
          <p:cNvSpPr/>
          <p:nvPr/>
        </p:nvSpPr>
        <p:spPr>
          <a:xfrm>
            <a:off x="1097280" y="4824476"/>
            <a:ext cx="5760720" cy="32004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Cross-building generalisation</a:t>
            </a:r>
            <a:endParaRPr lang="en-US" sz="1600" dirty="0"/>
          </a:p>
        </p:txBody>
      </p:sp>
      <p:sp>
        <p:nvSpPr>
          <p:cNvPr id="16" name="Text 14"/>
          <p:cNvSpPr/>
          <p:nvPr/>
        </p:nvSpPr>
        <p:spPr>
          <a:xfrm>
            <a:off x="1097280" y="5178552"/>
            <a:ext cx="5760720" cy="502920"/>
          </a:xfrm>
          <a:prstGeom prst="rect">
            <a:avLst/>
          </a:prstGeom>
          <a:noFill/>
          <a:ln/>
        </p:spPr>
        <p:txBody>
          <a:bodyPr wrap="square" rtlCol="0" anchor="ctr"/>
          <a:lstStyle/>
          <a:p>
            <a:pPr marL="0" indent="0">
              <a:buNone/>
            </a:pPr>
            <a:r>
              <a:rPr lang="en-US" sz="1600" dirty="0">
                <a:ea typeface="Calibri" pitchFamily="34" charset="-122"/>
                <a:cs typeface="Calibri" pitchFamily="34" charset="-120"/>
              </a:rPr>
              <a:t>Test buildings are never seen in training — the model must learn transferable signals.</a:t>
            </a:r>
            <a:endParaRPr lang="en-US" sz="1600" dirty="0"/>
          </a:p>
        </p:txBody>
      </p:sp>
      <p:sp>
        <p:nvSpPr>
          <p:cNvPr id="17" name="Shape 15"/>
          <p:cNvSpPr/>
          <p:nvPr/>
        </p:nvSpPr>
        <p:spPr>
          <a:xfrm>
            <a:off x="7245096" y="1417320"/>
            <a:ext cx="4343400" cy="4800600"/>
          </a:xfrm>
          <a:prstGeom prst="roundRect">
            <a:avLst>
              <a:gd name="adj" fmla="val 1684"/>
            </a:avLst>
          </a:prstGeom>
          <a:solidFill>
            <a:srgbClr val="0B2545"/>
          </a:solidFill>
          <a:ln/>
        </p:spPr>
        <p:txBody>
          <a:bodyPr/>
          <a:lstStyle/>
          <a:p>
            <a:endParaRPr lang="en-ZA"/>
          </a:p>
        </p:txBody>
      </p:sp>
      <p:sp>
        <p:nvSpPr>
          <p:cNvPr id="18" name="Text 16"/>
          <p:cNvSpPr/>
          <p:nvPr/>
        </p:nvSpPr>
        <p:spPr>
          <a:xfrm>
            <a:off x="7589520" y="1691640"/>
            <a:ext cx="3657600" cy="274320"/>
          </a:xfrm>
          <a:prstGeom prst="rect">
            <a:avLst/>
          </a:prstGeom>
          <a:noFill/>
          <a:ln/>
        </p:spPr>
        <p:txBody>
          <a:bodyPr wrap="square" rtlCol="0" anchor="ctr"/>
          <a:lstStyle/>
          <a:p>
            <a:pPr marL="0" indent="0">
              <a:buNone/>
            </a:pPr>
            <a:r>
              <a:rPr lang="en-US" sz="1600" b="1" kern="0" spc="150" dirty="0">
                <a:solidFill>
                  <a:srgbClr val="F2A541"/>
                </a:solidFill>
                <a:ea typeface="Calibri" pitchFamily="34" charset="-122"/>
                <a:cs typeface="Calibri" pitchFamily="34" charset="-120"/>
              </a:rPr>
              <a:t>THE TASK</a:t>
            </a:r>
            <a:endParaRPr lang="en-US" sz="1600" dirty="0"/>
          </a:p>
        </p:txBody>
      </p:sp>
      <p:sp>
        <p:nvSpPr>
          <p:cNvPr id="19" name="Shape 17"/>
          <p:cNvSpPr/>
          <p:nvPr/>
        </p:nvSpPr>
        <p:spPr>
          <a:xfrm>
            <a:off x="7589520" y="2221992"/>
            <a:ext cx="109728" cy="109728"/>
          </a:xfrm>
          <a:prstGeom prst="rect">
            <a:avLst/>
          </a:prstGeom>
          <a:solidFill>
            <a:srgbClr val="F2A541"/>
          </a:solidFill>
          <a:ln/>
        </p:spPr>
        <p:txBody>
          <a:bodyPr/>
          <a:lstStyle/>
          <a:p>
            <a:endParaRPr lang="en-ZA" sz="1600"/>
          </a:p>
        </p:txBody>
      </p:sp>
      <p:sp>
        <p:nvSpPr>
          <p:cNvPr id="20" name="Text 18"/>
          <p:cNvSpPr/>
          <p:nvPr/>
        </p:nvSpPr>
        <p:spPr>
          <a:xfrm>
            <a:off x="7882128" y="20939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Detect anomalous hourly readings in train.csv</a:t>
            </a:r>
            <a:endParaRPr lang="en-US" sz="1600" dirty="0"/>
          </a:p>
        </p:txBody>
      </p:sp>
      <p:sp>
        <p:nvSpPr>
          <p:cNvPr id="21" name="Shape 19"/>
          <p:cNvSpPr/>
          <p:nvPr/>
        </p:nvSpPr>
        <p:spPr>
          <a:xfrm>
            <a:off x="7589520" y="2907792"/>
            <a:ext cx="109728" cy="109728"/>
          </a:xfrm>
          <a:prstGeom prst="rect">
            <a:avLst/>
          </a:prstGeom>
          <a:solidFill>
            <a:srgbClr val="F2A541"/>
          </a:solidFill>
          <a:ln/>
        </p:spPr>
        <p:txBody>
          <a:bodyPr/>
          <a:lstStyle/>
          <a:p>
            <a:endParaRPr lang="en-ZA" sz="1600"/>
          </a:p>
        </p:txBody>
      </p:sp>
      <p:sp>
        <p:nvSpPr>
          <p:cNvPr id="22" name="Text 20"/>
          <p:cNvSpPr/>
          <p:nvPr/>
        </p:nvSpPr>
        <p:spPr>
          <a:xfrm>
            <a:off x="7882128" y="27797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Engineer time-series features per building</a:t>
            </a:r>
            <a:endParaRPr lang="en-US" sz="1600" dirty="0"/>
          </a:p>
        </p:txBody>
      </p:sp>
      <p:sp>
        <p:nvSpPr>
          <p:cNvPr id="23" name="Shape 21"/>
          <p:cNvSpPr/>
          <p:nvPr/>
        </p:nvSpPr>
        <p:spPr>
          <a:xfrm>
            <a:off x="7589520" y="3593592"/>
            <a:ext cx="109728" cy="109728"/>
          </a:xfrm>
          <a:prstGeom prst="rect">
            <a:avLst/>
          </a:prstGeom>
          <a:solidFill>
            <a:srgbClr val="F2A541"/>
          </a:solidFill>
          <a:ln/>
        </p:spPr>
        <p:txBody>
          <a:bodyPr/>
          <a:lstStyle/>
          <a:p>
            <a:endParaRPr lang="en-ZA" sz="1600"/>
          </a:p>
        </p:txBody>
      </p:sp>
      <p:sp>
        <p:nvSpPr>
          <p:cNvPr id="24" name="Text 22"/>
          <p:cNvSpPr/>
          <p:nvPr/>
        </p:nvSpPr>
        <p:spPr>
          <a:xfrm>
            <a:off x="7882128" y="34655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Compare ≥2 anomaly detection methods</a:t>
            </a:r>
            <a:endParaRPr lang="en-US" sz="1600" dirty="0"/>
          </a:p>
        </p:txBody>
      </p:sp>
      <p:sp>
        <p:nvSpPr>
          <p:cNvPr id="25" name="Shape 23"/>
          <p:cNvSpPr/>
          <p:nvPr/>
        </p:nvSpPr>
        <p:spPr>
          <a:xfrm>
            <a:off x="7589520" y="4279392"/>
            <a:ext cx="109728" cy="109728"/>
          </a:xfrm>
          <a:prstGeom prst="rect">
            <a:avLst/>
          </a:prstGeom>
          <a:solidFill>
            <a:srgbClr val="F2A541"/>
          </a:solidFill>
          <a:ln/>
        </p:spPr>
        <p:txBody>
          <a:bodyPr/>
          <a:lstStyle/>
          <a:p>
            <a:endParaRPr lang="en-ZA" sz="1600"/>
          </a:p>
        </p:txBody>
      </p:sp>
      <p:sp>
        <p:nvSpPr>
          <p:cNvPr id="26" name="Text 24"/>
          <p:cNvSpPr/>
          <p:nvPr/>
        </p:nvSpPr>
        <p:spPr>
          <a:xfrm>
            <a:off x="7882128" y="41513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Validate with a leakage-safe, building-aware split</a:t>
            </a:r>
            <a:endParaRPr lang="en-US" sz="1600" dirty="0"/>
          </a:p>
        </p:txBody>
      </p:sp>
      <p:sp>
        <p:nvSpPr>
          <p:cNvPr id="27" name="Shape 25"/>
          <p:cNvSpPr/>
          <p:nvPr/>
        </p:nvSpPr>
        <p:spPr>
          <a:xfrm>
            <a:off x="7589520" y="4965192"/>
            <a:ext cx="109728" cy="109728"/>
          </a:xfrm>
          <a:prstGeom prst="rect">
            <a:avLst/>
          </a:prstGeom>
          <a:solidFill>
            <a:srgbClr val="F2A541"/>
          </a:solidFill>
          <a:ln/>
        </p:spPr>
        <p:txBody>
          <a:bodyPr/>
          <a:lstStyle/>
          <a:p>
            <a:endParaRPr lang="en-ZA" sz="1600"/>
          </a:p>
        </p:txBody>
      </p:sp>
      <p:sp>
        <p:nvSpPr>
          <p:cNvPr id="28" name="Text 26"/>
          <p:cNvSpPr/>
          <p:nvPr/>
        </p:nvSpPr>
        <p:spPr>
          <a:xfrm>
            <a:off x="7882128" y="48371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Score 1.8M unseen readings from 206 new buildings</a:t>
            </a:r>
            <a:endParaRPr lang="en-US" sz="1600" dirty="0"/>
          </a:p>
        </p:txBody>
      </p:sp>
      <p:sp>
        <p:nvSpPr>
          <p:cNvPr id="29" name="Shape 27"/>
          <p:cNvSpPr/>
          <p:nvPr/>
        </p:nvSpPr>
        <p:spPr>
          <a:xfrm>
            <a:off x="7589520" y="5650992"/>
            <a:ext cx="109728" cy="109728"/>
          </a:xfrm>
          <a:prstGeom prst="rect">
            <a:avLst/>
          </a:prstGeom>
          <a:solidFill>
            <a:srgbClr val="F2A541"/>
          </a:solidFill>
          <a:ln/>
        </p:spPr>
        <p:txBody>
          <a:bodyPr/>
          <a:lstStyle/>
          <a:p>
            <a:endParaRPr lang="en-ZA" sz="1600"/>
          </a:p>
        </p:txBody>
      </p:sp>
      <p:sp>
        <p:nvSpPr>
          <p:cNvPr id="30" name="Text 28"/>
          <p:cNvSpPr/>
          <p:nvPr/>
        </p:nvSpPr>
        <p:spPr>
          <a:xfrm>
            <a:off x="7882128" y="5522976"/>
            <a:ext cx="3566160" cy="502920"/>
          </a:xfrm>
          <a:prstGeom prst="rect">
            <a:avLst/>
          </a:prstGeom>
          <a:noFill/>
          <a:ln/>
        </p:spPr>
        <p:txBody>
          <a:bodyPr wrap="square" rtlCol="0" anchor="ctr"/>
          <a:lstStyle/>
          <a:p>
            <a:pPr marL="0" indent="0">
              <a:lnSpc>
                <a:spcPts val="1600"/>
              </a:lnSpc>
              <a:buNone/>
            </a:pPr>
            <a:r>
              <a:rPr lang="en-US" sz="1600" dirty="0">
                <a:solidFill>
                  <a:srgbClr val="FFFFFF"/>
                </a:solidFill>
                <a:ea typeface="Calibri" pitchFamily="34" charset="-122"/>
                <a:cs typeface="Calibri" pitchFamily="34" charset="-120"/>
              </a:rPr>
              <a:t>Explain ≥10 point anomalies</a:t>
            </a:r>
            <a:endParaRPr lang="en-US" sz="1600" dirty="0"/>
          </a:p>
        </p:txBody>
      </p:sp>
      <p:sp>
        <p:nvSpPr>
          <p:cNvPr id="32" name="Text 3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About the Data: A year of hourly readings, at scale</a:t>
            </a:r>
            <a:endParaRPr lang="en-US" sz="3000" dirty="0"/>
          </a:p>
        </p:txBody>
      </p:sp>
      <p:sp>
        <p:nvSpPr>
          <p:cNvPr id="4" name="Shape 2"/>
          <p:cNvSpPr/>
          <p:nvPr/>
        </p:nvSpPr>
        <p:spPr>
          <a:xfrm>
            <a:off x="594360" y="1554480"/>
            <a:ext cx="2606040" cy="2148840"/>
          </a:xfrm>
          <a:prstGeom prst="roundRect">
            <a:avLst>
              <a:gd name="adj" fmla="val 3404"/>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5" name="Text 3"/>
          <p:cNvSpPr/>
          <p:nvPr/>
        </p:nvSpPr>
        <p:spPr>
          <a:xfrm>
            <a:off x="731520" y="1828800"/>
            <a:ext cx="2331720" cy="868680"/>
          </a:xfrm>
          <a:prstGeom prst="rect">
            <a:avLst/>
          </a:prstGeom>
          <a:noFill/>
          <a:ln/>
        </p:spPr>
        <p:txBody>
          <a:bodyPr wrap="square" rtlCol="0" anchor="ctr"/>
          <a:lstStyle/>
          <a:p>
            <a:pPr marL="0" indent="0" algn="l">
              <a:buNone/>
            </a:pPr>
            <a:r>
              <a:rPr lang="en-US" sz="4000" b="1" dirty="0">
                <a:solidFill>
                  <a:srgbClr val="134074"/>
                </a:solidFill>
                <a:latin typeface="Cambria" pitchFamily="34" charset="0"/>
                <a:ea typeface="Cambria" pitchFamily="34" charset="-122"/>
                <a:cs typeface="Cambria" pitchFamily="34" charset="-120"/>
              </a:rPr>
              <a:t>1.75M</a:t>
            </a:r>
            <a:endParaRPr lang="en-US" sz="4000" dirty="0"/>
          </a:p>
        </p:txBody>
      </p:sp>
      <p:sp>
        <p:nvSpPr>
          <p:cNvPr id="6" name="Text 4"/>
          <p:cNvSpPr/>
          <p:nvPr/>
        </p:nvSpPr>
        <p:spPr>
          <a:xfrm>
            <a:off x="749808" y="2697480"/>
            <a:ext cx="2295144" cy="320040"/>
          </a:xfrm>
          <a:prstGeom prst="rect">
            <a:avLst/>
          </a:prstGeom>
          <a:noFill/>
          <a:ln/>
        </p:spPr>
        <p:txBody>
          <a:bodyPr wrap="square" rtlCol="0" anchor="ctr"/>
          <a:lstStyle/>
          <a:p>
            <a:pPr marL="0" indent="0">
              <a:buNone/>
            </a:pPr>
            <a:r>
              <a:rPr lang="en-US" sz="1100" b="1" kern="0" spc="50" dirty="0">
                <a:solidFill>
                  <a:srgbClr val="0B2545"/>
                </a:solidFill>
                <a:latin typeface="Calibri" pitchFamily="34" charset="0"/>
                <a:ea typeface="Calibri" pitchFamily="34" charset="-122"/>
                <a:cs typeface="Calibri" pitchFamily="34" charset="-120"/>
              </a:rPr>
              <a:t>TRAINING READINGS</a:t>
            </a:r>
            <a:endParaRPr lang="en-US" sz="1100" dirty="0"/>
          </a:p>
        </p:txBody>
      </p:sp>
      <p:sp>
        <p:nvSpPr>
          <p:cNvPr id="7" name="Text 5"/>
          <p:cNvSpPr/>
          <p:nvPr/>
        </p:nvSpPr>
        <p:spPr>
          <a:xfrm>
            <a:off x="749808" y="3035808"/>
            <a:ext cx="2295144" cy="548640"/>
          </a:xfrm>
          <a:prstGeom prst="rect">
            <a:avLst/>
          </a:prstGeom>
          <a:noFill/>
          <a:ln/>
        </p:spPr>
        <p:txBody>
          <a:bodyPr wrap="square" rtlCol="0" anchor="ctr"/>
          <a:lstStyle/>
          <a:p>
            <a:pPr marL="0" indent="0">
              <a:lnSpc>
                <a:spcPts val="1300"/>
              </a:lnSpc>
              <a:buNone/>
            </a:pPr>
            <a:r>
              <a:rPr lang="en-US" sz="1200" dirty="0">
                <a:latin typeface="Calibri" pitchFamily="34" charset="0"/>
                <a:ea typeface="Calibri" pitchFamily="34" charset="-122"/>
                <a:cs typeface="Calibri" pitchFamily="34" charset="-120"/>
              </a:rPr>
              <a:t>200 buildings, hourly, all of 2016</a:t>
            </a:r>
            <a:endParaRPr lang="en-US" sz="1200" dirty="0"/>
          </a:p>
        </p:txBody>
      </p:sp>
      <p:sp>
        <p:nvSpPr>
          <p:cNvPr id="8" name="Shape 6"/>
          <p:cNvSpPr/>
          <p:nvPr/>
        </p:nvSpPr>
        <p:spPr>
          <a:xfrm>
            <a:off x="3456432" y="1554480"/>
            <a:ext cx="2606040" cy="2148840"/>
          </a:xfrm>
          <a:prstGeom prst="roundRect">
            <a:avLst>
              <a:gd name="adj" fmla="val 3404"/>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9" name="Text 7"/>
          <p:cNvSpPr/>
          <p:nvPr/>
        </p:nvSpPr>
        <p:spPr>
          <a:xfrm>
            <a:off x="3593592" y="1828800"/>
            <a:ext cx="2331720" cy="868680"/>
          </a:xfrm>
          <a:prstGeom prst="rect">
            <a:avLst/>
          </a:prstGeom>
          <a:noFill/>
          <a:ln/>
        </p:spPr>
        <p:txBody>
          <a:bodyPr wrap="square" rtlCol="0" anchor="ctr"/>
          <a:lstStyle/>
          <a:p>
            <a:pPr marL="0" indent="0" algn="l">
              <a:buNone/>
            </a:pPr>
            <a:r>
              <a:rPr lang="en-US" sz="4000" b="1" dirty="0">
                <a:solidFill>
                  <a:srgbClr val="134074"/>
                </a:solidFill>
                <a:latin typeface="Cambria" pitchFamily="34" charset="0"/>
                <a:ea typeface="Cambria" pitchFamily="34" charset="-122"/>
                <a:cs typeface="Cambria" pitchFamily="34" charset="-120"/>
              </a:rPr>
              <a:t>1.80M</a:t>
            </a:r>
            <a:endParaRPr lang="en-US" sz="4000" dirty="0"/>
          </a:p>
        </p:txBody>
      </p:sp>
      <p:sp>
        <p:nvSpPr>
          <p:cNvPr id="10" name="Text 8"/>
          <p:cNvSpPr/>
          <p:nvPr/>
        </p:nvSpPr>
        <p:spPr>
          <a:xfrm>
            <a:off x="3611880" y="2697480"/>
            <a:ext cx="2295144" cy="320040"/>
          </a:xfrm>
          <a:prstGeom prst="rect">
            <a:avLst/>
          </a:prstGeom>
          <a:noFill/>
          <a:ln/>
        </p:spPr>
        <p:txBody>
          <a:bodyPr wrap="square" rtlCol="0" anchor="ctr"/>
          <a:lstStyle/>
          <a:p>
            <a:pPr marL="0" indent="0">
              <a:buNone/>
            </a:pPr>
            <a:r>
              <a:rPr lang="en-US" sz="1100" b="1" kern="0" spc="50" dirty="0">
                <a:solidFill>
                  <a:srgbClr val="0B2545"/>
                </a:solidFill>
                <a:latin typeface="Calibri" pitchFamily="34" charset="0"/>
                <a:ea typeface="Calibri" pitchFamily="34" charset="-122"/>
                <a:cs typeface="Calibri" pitchFamily="34" charset="-120"/>
              </a:rPr>
              <a:t>TEST READINGS</a:t>
            </a:r>
            <a:endParaRPr lang="en-US" sz="1100" dirty="0"/>
          </a:p>
        </p:txBody>
      </p:sp>
      <p:sp>
        <p:nvSpPr>
          <p:cNvPr id="11" name="Text 9"/>
          <p:cNvSpPr/>
          <p:nvPr/>
        </p:nvSpPr>
        <p:spPr>
          <a:xfrm>
            <a:off x="3611880" y="3035808"/>
            <a:ext cx="2295144" cy="548640"/>
          </a:xfrm>
          <a:prstGeom prst="rect">
            <a:avLst/>
          </a:prstGeom>
          <a:noFill/>
          <a:ln/>
        </p:spPr>
        <p:txBody>
          <a:bodyPr wrap="square" rtlCol="0" anchor="ctr"/>
          <a:lstStyle/>
          <a:p>
            <a:pPr marL="0" indent="0">
              <a:lnSpc>
                <a:spcPts val="1300"/>
              </a:lnSpc>
              <a:buNone/>
            </a:pPr>
            <a:r>
              <a:rPr lang="en-US" sz="1200" dirty="0">
                <a:latin typeface="Calibri" pitchFamily="34" charset="0"/>
                <a:ea typeface="Calibri" pitchFamily="34" charset="-122"/>
                <a:cs typeface="Calibri" pitchFamily="34" charset="-120"/>
              </a:rPr>
              <a:t>206 unseen buildings</a:t>
            </a:r>
            <a:endParaRPr lang="en-US" sz="1200" dirty="0"/>
          </a:p>
        </p:txBody>
      </p:sp>
      <p:sp>
        <p:nvSpPr>
          <p:cNvPr id="12" name="Shape 10"/>
          <p:cNvSpPr/>
          <p:nvPr/>
        </p:nvSpPr>
        <p:spPr>
          <a:xfrm>
            <a:off x="6318504" y="1554480"/>
            <a:ext cx="2606040" cy="2148840"/>
          </a:xfrm>
          <a:prstGeom prst="roundRect">
            <a:avLst>
              <a:gd name="adj" fmla="val 3404"/>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13" name="Text 11"/>
          <p:cNvSpPr/>
          <p:nvPr/>
        </p:nvSpPr>
        <p:spPr>
          <a:xfrm>
            <a:off x="6455664" y="1828800"/>
            <a:ext cx="2331720" cy="868680"/>
          </a:xfrm>
          <a:prstGeom prst="rect">
            <a:avLst/>
          </a:prstGeom>
          <a:noFill/>
          <a:ln/>
        </p:spPr>
        <p:txBody>
          <a:bodyPr wrap="square" rtlCol="0" anchor="ctr"/>
          <a:lstStyle/>
          <a:p>
            <a:pPr marL="0" indent="0" algn="l">
              <a:buNone/>
            </a:pPr>
            <a:r>
              <a:rPr lang="en-US" sz="4000" b="1" dirty="0">
                <a:solidFill>
                  <a:srgbClr val="134074"/>
                </a:solidFill>
                <a:latin typeface="Cambria" pitchFamily="34" charset="0"/>
                <a:ea typeface="Cambria" pitchFamily="34" charset="-122"/>
                <a:cs typeface="Cambria" pitchFamily="34" charset="-120"/>
              </a:rPr>
              <a:t>2.13%</a:t>
            </a:r>
            <a:endParaRPr lang="en-US" sz="4000" dirty="0"/>
          </a:p>
        </p:txBody>
      </p:sp>
      <p:sp>
        <p:nvSpPr>
          <p:cNvPr id="14" name="Text 12"/>
          <p:cNvSpPr/>
          <p:nvPr/>
        </p:nvSpPr>
        <p:spPr>
          <a:xfrm>
            <a:off x="6473952" y="2697480"/>
            <a:ext cx="2295144" cy="320040"/>
          </a:xfrm>
          <a:prstGeom prst="rect">
            <a:avLst/>
          </a:prstGeom>
          <a:noFill/>
          <a:ln/>
        </p:spPr>
        <p:txBody>
          <a:bodyPr wrap="square" rtlCol="0" anchor="ctr"/>
          <a:lstStyle/>
          <a:p>
            <a:pPr marL="0" indent="0">
              <a:buNone/>
            </a:pPr>
            <a:r>
              <a:rPr lang="en-US" sz="1100" b="1" kern="0" spc="50" dirty="0">
                <a:solidFill>
                  <a:srgbClr val="0B2545"/>
                </a:solidFill>
                <a:latin typeface="Calibri" pitchFamily="34" charset="0"/>
                <a:ea typeface="Calibri" pitchFamily="34" charset="-122"/>
                <a:cs typeface="Calibri" pitchFamily="34" charset="-120"/>
              </a:rPr>
              <a:t>LABELLED ANOMALIES</a:t>
            </a:r>
            <a:endParaRPr lang="en-US" sz="1100" dirty="0"/>
          </a:p>
        </p:txBody>
      </p:sp>
      <p:sp>
        <p:nvSpPr>
          <p:cNvPr id="15" name="Text 13"/>
          <p:cNvSpPr/>
          <p:nvPr/>
        </p:nvSpPr>
        <p:spPr>
          <a:xfrm>
            <a:off x="6473952" y="3035808"/>
            <a:ext cx="2295144" cy="548640"/>
          </a:xfrm>
          <a:prstGeom prst="rect">
            <a:avLst/>
          </a:prstGeom>
          <a:noFill/>
          <a:ln/>
        </p:spPr>
        <p:txBody>
          <a:bodyPr wrap="square" rtlCol="0" anchor="ctr"/>
          <a:lstStyle/>
          <a:p>
            <a:pPr marL="0" indent="0">
              <a:lnSpc>
                <a:spcPts val="1300"/>
              </a:lnSpc>
              <a:buNone/>
            </a:pPr>
            <a:r>
              <a:rPr lang="en-US" sz="1200" dirty="0">
                <a:latin typeface="Calibri" pitchFamily="34" charset="0"/>
                <a:ea typeface="Calibri" pitchFamily="34" charset="-122"/>
                <a:cs typeface="Calibri" pitchFamily="34" charset="-120"/>
              </a:rPr>
              <a:t>severe class imbalance</a:t>
            </a:r>
            <a:endParaRPr lang="en-US" sz="1200" dirty="0"/>
          </a:p>
        </p:txBody>
      </p:sp>
      <p:sp>
        <p:nvSpPr>
          <p:cNvPr id="16" name="Shape 14"/>
          <p:cNvSpPr/>
          <p:nvPr/>
        </p:nvSpPr>
        <p:spPr>
          <a:xfrm>
            <a:off x="9180576" y="1554480"/>
            <a:ext cx="2606040" cy="2148840"/>
          </a:xfrm>
          <a:prstGeom prst="roundRect">
            <a:avLst>
              <a:gd name="adj" fmla="val 3404"/>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17" name="Text 15"/>
          <p:cNvSpPr/>
          <p:nvPr/>
        </p:nvSpPr>
        <p:spPr>
          <a:xfrm>
            <a:off x="9317736" y="1828800"/>
            <a:ext cx="2331720" cy="868680"/>
          </a:xfrm>
          <a:prstGeom prst="rect">
            <a:avLst/>
          </a:prstGeom>
          <a:noFill/>
          <a:ln/>
        </p:spPr>
        <p:txBody>
          <a:bodyPr wrap="square" rtlCol="0" anchor="ctr"/>
          <a:lstStyle/>
          <a:p>
            <a:pPr marL="0" indent="0" algn="l">
              <a:buNone/>
            </a:pPr>
            <a:r>
              <a:rPr lang="en-US" sz="4000" b="1" dirty="0">
                <a:solidFill>
                  <a:srgbClr val="134074"/>
                </a:solidFill>
                <a:latin typeface="Cambria" pitchFamily="34" charset="0"/>
                <a:ea typeface="Cambria" pitchFamily="34" charset="-122"/>
                <a:cs typeface="Cambria" pitchFamily="34" charset="-120"/>
              </a:rPr>
              <a:t>32</a:t>
            </a:r>
            <a:endParaRPr lang="en-US" sz="4000" dirty="0"/>
          </a:p>
        </p:txBody>
      </p:sp>
      <p:sp>
        <p:nvSpPr>
          <p:cNvPr id="18" name="Text 16"/>
          <p:cNvSpPr/>
          <p:nvPr/>
        </p:nvSpPr>
        <p:spPr>
          <a:xfrm>
            <a:off x="9336024" y="2697480"/>
            <a:ext cx="2295144" cy="320040"/>
          </a:xfrm>
          <a:prstGeom prst="rect">
            <a:avLst/>
          </a:prstGeom>
          <a:noFill/>
          <a:ln/>
        </p:spPr>
        <p:txBody>
          <a:bodyPr wrap="square" rtlCol="0" anchor="ctr"/>
          <a:lstStyle/>
          <a:p>
            <a:pPr marL="0" indent="0">
              <a:buNone/>
            </a:pPr>
            <a:r>
              <a:rPr lang="en-US" sz="1100" b="1" kern="0" spc="50" dirty="0">
                <a:solidFill>
                  <a:srgbClr val="0B2545"/>
                </a:solidFill>
                <a:latin typeface="Calibri" pitchFamily="34" charset="0"/>
                <a:ea typeface="Calibri" pitchFamily="34" charset="-122"/>
                <a:cs typeface="Calibri" pitchFamily="34" charset="-120"/>
              </a:rPr>
              <a:t>ENGINEERED FEATURES</a:t>
            </a:r>
            <a:endParaRPr lang="en-US" sz="1100" dirty="0"/>
          </a:p>
        </p:txBody>
      </p:sp>
      <p:sp>
        <p:nvSpPr>
          <p:cNvPr id="19" name="Text 17"/>
          <p:cNvSpPr/>
          <p:nvPr/>
        </p:nvSpPr>
        <p:spPr>
          <a:xfrm>
            <a:off x="9336024" y="3035808"/>
            <a:ext cx="2295144" cy="548640"/>
          </a:xfrm>
          <a:prstGeom prst="rect">
            <a:avLst/>
          </a:prstGeom>
          <a:noFill/>
          <a:ln/>
        </p:spPr>
        <p:txBody>
          <a:bodyPr wrap="square" rtlCol="0" anchor="ctr"/>
          <a:lstStyle/>
          <a:p>
            <a:pPr marL="0" indent="0">
              <a:lnSpc>
                <a:spcPts val="1300"/>
              </a:lnSpc>
              <a:buNone/>
            </a:pPr>
            <a:r>
              <a:rPr lang="en-US" sz="1200" dirty="0">
                <a:latin typeface="Calibri" pitchFamily="34" charset="0"/>
                <a:ea typeface="Calibri" pitchFamily="34" charset="-122"/>
                <a:cs typeface="Calibri" pitchFamily="34" charset="-120"/>
              </a:rPr>
              <a:t>per-building time-series signals</a:t>
            </a:r>
            <a:endParaRPr lang="en-US" sz="1200" dirty="0"/>
          </a:p>
        </p:txBody>
      </p:sp>
      <p:sp>
        <p:nvSpPr>
          <p:cNvPr id="20" name="Text 18"/>
          <p:cNvSpPr/>
          <p:nvPr/>
        </p:nvSpPr>
        <p:spPr>
          <a:xfrm>
            <a:off x="594360" y="3977640"/>
            <a:ext cx="5486400" cy="274320"/>
          </a:xfrm>
          <a:prstGeom prst="rect">
            <a:avLst/>
          </a:prstGeom>
          <a:noFill/>
          <a:ln/>
        </p:spPr>
        <p:txBody>
          <a:bodyPr wrap="square" rtlCol="0" anchor="ctr"/>
          <a:lstStyle/>
          <a:p>
            <a:pPr marL="0" indent="0">
              <a:buNone/>
            </a:pPr>
            <a:r>
              <a:rPr lang="en-US" sz="1600" b="1" kern="0" spc="150" dirty="0">
                <a:solidFill>
                  <a:schemeClr val="accent2"/>
                </a:solidFill>
                <a:latin typeface="Calibri" pitchFamily="34" charset="0"/>
                <a:ea typeface="Calibri" pitchFamily="34" charset="-122"/>
                <a:cs typeface="Calibri" pitchFamily="34" charset="-120"/>
              </a:rPr>
              <a:t>FILES PROVIDED</a:t>
            </a:r>
            <a:endParaRPr lang="en-US" sz="1600" dirty="0">
              <a:solidFill>
                <a:schemeClr val="accent2"/>
              </a:solidFill>
            </a:endParaRPr>
          </a:p>
        </p:txBody>
      </p:sp>
      <p:sp>
        <p:nvSpPr>
          <p:cNvPr id="21" name="Text 19"/>
          <p:cNvSpPr/>
          <p:nvPr/>
        </p:nvSpPr>
        <p:spPr>
          <a:xfrm>
            <a:off x="594360" y="4343400"/>
            <a:ext cx="27432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train.csv</a:t>
            </a:r>
            <a:endParaRPr lang="en-US" sz="1600" dirty="0"/>
          </a:p>
        </p:txBody>
      </p:sp>
      <p:sp>
        <p:nvSpPr>
          <p:cNvPr id="22" name="Text 20"/>
          <p:cNvSpPr/>
          <p:nvPr/>
        </p:nvSpPr>
        <p:spPr>
          <a:xfrm>
            <a:off x="3429000" y="4343400"/>
            <a:ext cx="8046720" cy="36576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building_id · timestamp · meter_reading · anomaly</a:t>
            </a:r>
            <a:endParaRPr lang="en-US" sz="1600" dirty="0"/>
          </a:p>
        </p:txBody>
      </p:sp>
      <p:sp>
        <p:nvSpPr>
          <p:cNvPr id="23" name="Text 21"/>
          <p:cNvSpPr/>
          <p:nvPr/>
        </p:nvSpPr>
        <p:spPr>
          <a:xfrm>
            <a:off x="594360" y="4800600"/>
            <a:ext cx="27432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test.csv</a:t>
            </a:r>
            <a:endParaRPr lang="en-US" sz="1600" dirty="0"/>
          </a:p>
        </p:txBody>
      </p:sp>
      <p:sp>
        <p:nvSpPr>
          <p:cNvPr id="24" name="Text 22"/>
          <p:cNvSpPr/>
          <p:nvPr/>
        </p:nvSpPr>
        <p:spPr>
          <a:xfrm>
            <a:off x="3429000" y="4800600"/>
            <a:ext cx="8046720" cy="36576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row_id · building_id · timestamp · meter_reading</a:t>
            </a:r>
            <a:endParaRPr lang="en-US" sz="1600" dirty="0"/>
          </a:p>
        </p:txBody>
      </p:sp>
      <p:sp>
        <p:nvSpPr>
          <p:cNvPr id="25" name="Text 23"/>
          <p:cNvSpPr/>
          <p:nvPr/>
        </p:nvSpPr>
        <p:spPr>
          <a:xfrm>
            <a:off x="594360" y="5257800"/>
            <a:ext cx="27432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sample_submission.csv</a:t>
            </a:r>
            <a:endParaRPr lang="en-US" sz="1600" dirty="0"/>
          </a:p>
        </p:txBody>
      </p:sp>
      <p:sp>
        <p:nvSpPr>
          <p:cNvPr id="26" name="Text 24"/>
          <p:cNvSpPr/>
          <p:nvPr/>
        </p:nvSpPr>
        <p:spPr>
          <a:xfrm>
            <a:off x="3429000" y="5257800"/>
            <a:ext cx="8046720" cy="36576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row_id · anomaly (required output format)</a:t>
            </a:r>
            <a:endParaRPr lang="en-US" sz="1600" dirty="0"/>
          </a:p>
        </p:txBody>
      </p:sp>
      <p:sp>
        <p:nvSpPr>
          <p:cNvPr id="27" name="Text 25"/>
          <p:cNvSpPr/>
          <p:nvPr/>
        </p:nvSpPr>
        <p:spPr>
          <a:xfrm>
            <a:off x="594360" y="5715000"/>
            <a:ext cx="27432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train/test_features.csv</a:t>
            </a:r>
            <a:endParaRPr lang="en-US" sz="1600" dirty="0"/>
          </a:p>
        </p:txBody>
      </p:sp>
      <p:sp>
        <p:nvSpPr>
          <p:cNvPr id="28" name="Text 26"/>
          <p:cNvSpPr/>
          <p:nvPr/>
        </p:nvSpPr>
        <p:spPr>
          <a:xfrm>
            <a:off x="3429000" y="5715000"/>
            <a:ext cx="8046720" cy="36576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optional building attributes</a:t>
            </a:r>
            <a:endParaRPr lang="en-US" sz="1600" dirty="0"/>
          </a:p>
        </p:txBody>
      </p:sp>
      <p:sp>
        <p:nvSpPr>
          <p:cNvPr id="30" name="Text 28"/>
          <p:cNvSpPr/>
          <p:nvPr/>
        </p:nvSpPr>
        <p:spPr>
          <a:xfrm>
            <a:off x="11277295" y="6473952"/>
            <a:ext cx="457200" cy="274320"/>
          </a:xfrm>
          <a:prstGeom prst="rect">
            <a:avLst/>
          </a:prstGeom>
          <a:noFill/>
          <a:ln/>
        </p:spPr>
        <p:txBody>
          <a:bodyPr wrap="square" rtlCol="0" anchor="ctr"/>
          <a:lstStyle/>
          <a:p>
            <a:pPr marL="0" indent="0" algn="r">
              <a:buNone/>
            </a:pPr>
            <a:r>
              <a:rPr lang="en-US" sz="1600" dirty="0">
                <a:solidFill>
                  <a:srgbClr val="6B7280"/>
                </a:solidFill>
                <a:latin typeface="Calibri" pitchFamily="34" charset="0"/>
                <a:ea typeface="Calibri" pitchFamily="34" charset="-122"/>
                <a:cs typeface="Calibri" pitchFamily="34" charset="-120"/>
              </a:rPr>
              <a:t>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64592"/>
            <a:ext cx="11094415" cy="274320"/>
          </a:xfrm>
          <a:prstGeom prst="rect">
            <a:avLst/>
          </a:prstGeom>
          <a:noFill/>
          <a:ln/>
        </p:spPr>
        <p:txBody>
          <a:bodyPr wrap="square" rtlCol="0" anchor="ctr"/>
          <a:lstStyle/>
          <a:p>
            <a:pPr marL="0" indent="0" algn="l">
              <a:buNone/>
            </a:pPr>
            <a:r>
              <a:rPr lang="en-US" sz="1400" b="1" kern="0" spc="200" dirty="0">
                <a:solidFill>
                  <a:schemeClr val="accent2"/>
                </a:solidFill>
                <a:latin typeface="Calibri" pitchFamily="34" charset="0"/>
                <a:ea typeface="Calibri" pitchFamily="34" charset="-122"/>
                <a:cs typeface="Calibri" pitchFamily="34" charset="-120"/>
              </a:rPr>
              <a:t>PREPROCESSING</a:t>
            </a:r>
            <a:endParaRPr lang="en-US" sz="1400" dirty="0">
              <a:solidFill>
                <a:schemeClr val="accent2"/>
              </a:solidFill>
            </a:endParaRPr>
          </a:p>
        </p:txBody>
      </p:sp>
      <p:sp>
        <p:nvSpPr>
          <p:cNvPr id="3" name="Text 1"/>
          <p:cNvSpPr/>
          <p:nvPr/>
        </p:nvSpPr>
        <p:spPr>
          <a:xfrm>
            <a:off x="518160" y="332232"/>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Cleaning decisions</a:t>
            </a:r>
            <a:endParaRPr lang="en-US" sz="3000" dirty="0"/>
          </a:p>
        </p:txBody>
      </p:sp>
      <p:sp>
        <p:nvSpPr>
          <p:cNvPr id="4" name="Text 2"/>
          <p:cNvSpPr/>
          <p:nvPr/>
        </p:nvSpPr>
        <p:spPr>
          <a:xfrm>
            <a:off x="548640" y="1173480"/>
            <a:ext cx="10881360" cy="640080"/>
          </a:xfrm>
          <a:prstGeom prst="rect">
            <a:avLst/>
          </a:prstGeom>
          <a:noFill/>
          <a:ln/>
        </p:spPr>
        <p:txBody>
          <a:bodyPr wrap="square" rtlCol="0" anchor="ctr"/>
          <a:lstStyle/>
          <a:p>
            <a:pPr marL="0" indent="0">
              <a:lnSpc>
                <a:spcPts val="2000"/>
              </a:lnSpc>
              <a:buNone/>
            </a:pPr>
            <a:r>
              <a:rPr lang="en-US" sz="1600" dirty="0">
                <a:latin typeface="Calibri" pitchFamily="34" charset="0"/>
                <a:ea typeface="Calibri" pitchFamily="34" charset="-122"/>
                <a:cs typeface="Calibri" pitchFamily="34" charset="-120"/>
              </a:rPr>
              <a:t>Timestamps were parsed to datetime for correct chronological ordering. No duplicate rows were found in either file. Missing meter readings were the main issue:</a:t>
            </a:r>
            <a:endParaRPr lang="en-US" sz="1600" dirty="0"/>
          </a:p>
        </p:txBody>
      </p:sp>
      <p:sp>
        <p:nvSpPr>
          <p:cNvPr id="5" name="Shape 3"/>
          <p:cNvSpPr/>
          <p:nvPr/>
        </p:nvSpPr>
        <p:spPr>
          <a:xfrm>
            <a:off x="594360" y="2194560"/>
            <a:ext cx="3291840" cy="1554480"/>
          </a:xfrm>
          <a:prstGeom prst="roundRect">
            <a:avLst>
              <a:gd name="adj" fmla="val 4706"/>
            </a:avLst>
          </a:prstGeom>
          <a:solidFill>
            <a:srgbClr val="FBEAEA"/>
          </a:solidFill>
          <a:ln/>
          <a:effectLst>
            <a:outerShdw blurRad="101600" dist="38100" dir="5400000" algn="bl" rotWithShape="0">
              <a:srgbClr val="1B2430">
                <a:alpha val="18000"/>
              </a:srgbClr>
            </a:outerShdw>
          </a:effectLst>
        </p:spPr>
        <p:txBody>
          <a:bodyPr/>
          <a:lstStyle/>
          <a:p>
            <a:endParaRPr lang="en-ZA"/>
          </a:p>
        </p:txBody>
      </p:sp>
      <p:sp>
        <p:nvSpPr>
          <p:cNvPr id="6" name="Text 4"/>
          <p:cNvSpPr/>
          <p:nvPr/>
        </p:nvSpPr>
        <p:spPr>
          <a:xfrm>
            <a:off x="822960" y="2359152"/>
            <a:ext cx="2834640" cy="274320"/>
          </a:xfrm>
          <a:prstGeom prst="rect">
            <a:avLst/>
          </a:prstGeom>
          <a:noFill/>
          <a:ln/>
        </p:spPr>
        <p:txBody>
          <a:bodyPr wrap="square" rtlCol="0" anchor="ctr"/>
          <a:lstStyle/>
          <a:p>
            <a:pPr marL="0" indent="0">
              <a:buNone/>
            </a:pPr>
            <a:r>
              <a:rPr lang="en-US" sz="1050" b="1" kern="0" spc="100" dirty="0">
                <a:solidFill>
                  <a:srgbClr val="C0392B"/>
                </a:solidFill>
                <a:latin typeface="Calibri" pitchFamily="34" charset="0"/>
                <a:ea typeface="Calibri" pitchFamily="34" charset="-122"/>
                <a:cs typeface="Calibri" pitchFamily="34" charset="-120"/>
              </a:rPr>
              <a:t>BEFORE CLEANING</a:t>
            </a:r>
            <a:endParaRPr lang="en-US" sz="1050" dirty="0"/>
          </a:p>
        </p:txBody>
      </p:sp>
      <p:sp>
        <p:nvSpPr>
          <p:cNvPr id="7" name="Text 5"/>
          <p:cNvSpPr/>
          <p:nvPr/>
        </p:nvSpPr>
        <p:spPr>
          <a:xfrm>
            <a:off x="822960" y="2615184"/>
            <a:ext cx="2834640" cy="502920"/>
          </a:xfrm>
          <a:prstGeom prst="rect">
            <a:avLst/>
          </a:prstGeom>
          <a:noFill/>
          <a:ln/>
        </p:spPr>
        <p:txBody>
          <a:bodyPr wrap="square" rtlCol="0" anchor="ctr"/>
          <a:lstStyle/>
          <a:p>
            <a:pPr marL="0" indent="0">
              <a:buNone/>
            </a:pPr>
            <a:r>
              <a:rPr lang="en-US" sz="2600" b="1" dirty="0">
                <a:solidFill>
                  <a:srgbClr val="C0392B"/>
                </a:solidFill>
                <a:latin typeface="Cambria" pitchFamily="34" charset="0"/>
                <a:ea typeface="Cambria" pitchFamily="34" charset="-122"/>
                <a:cs typeface="Cambria" pitchFamily="34" charset="-120"/>
              </a:rPr>
              <a:t>107,653</a:t>
            </a:r>
            <a:endParaRPr lang="en-US" sz="2600" dirty="0"/>
          </a:p>
        </p:txBody>
      </p:sp>
      <p:sp>
        <p:nvSpPr>
          <p:cNvPr id="8" name="Text 6"/>
          <p:cNvSpPr/>
          <p:nvPr/>
        </p:nvSpPr>
        <p:spPr>
          <a:xfrm>
            <a:off x="822960" y="3108960"/>
            <a:ext cx="2834640" cy="54864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missing</a:t>
            </a:r>
            <a:r>
              <a:rPr lang="en-US" sz="1150" dirty="0">
                <a:solidFill>
                  <a:srgbClr val="1B2430"/>
                </a:solidFill>
                <a:latin typeface="Calibri" pitchFamily="34" charset="0"/>
                <a:ea typeface="Calibri" pitchFamily="34" charset="-122"/>
                <a:cs typeface="Calibri" pitchFamily="34" charset="-120"/>
              </a:rPr>
              <a:t> readings in train (6.15%)</a:t>
            </a:r>
            <a:endParaRPr lang="en-US" sz="1150" dirty="0"/>
          </a:p>
        </p:txBody>
      </p:sp>
      <p:sp>
        <p:nvSpPr>
          <p:cNvPr id="9" name="Shape 7"/>
          <p:cNvSpPr/>
          <p:nvPr/>
        </p:nvSpPr>
        <p:spPr>
          <a:xfrm>
            <a:off x="4069080" y="2194560"/>
            <a:ext cx="3291840" cy="1554480"/>
          </a:xfrm>
          <a:prstGeom prst="roundRect">
            <a:avLst>
              <a:gd name="adj" fmla="val 4706"/>
            </a:avLst>
          </a:prstGeom>
          <a:solidFill>
            <a:srgbClr val="FBEAEA"/>
          </a:solidFill>
          <a:ln/>
          <a:effectLst>
            <a:outerShdw blurRad="101600" dist="38100" dir="5400000" algn="bl" rotWithShape="0">
              <a:srgbClr val="1B2430">
                <a:alpha val="18000"/>
              </a:srgbClr>
            </a:outerShdw>
          </a:effectLst>
        </p:spPr>
        <p:txBody>
          <a:bodyPr/>
          <a:lstStyle/>
          <a:p>
            <a:endParaRPr lang="en-ZA"/>
          </a:p>
        </p:txBody>
      </p:sp>
      <p:sp>
        <p:nvSpPr>
          <p:cNvPr id="10" name="Text 8"/>
          <p:cNvSpPr/>
          <p:nvPr/>
        </p:nvSpPr>
        <p:spPr>
          <a:xfrm>
            <a:off x="4297680" y="2359152"/>
            <a:ext cx="2834640" cy="274320"/>
          </a:xfrm>
          <a:prstGeom prst="rect">
            <a:avLst/>
          </a:prstGeom>
          <a:noFill/>
          <a:ln/>
        </p:spPr>
        <p:txBody>
          <a:bodyPr wrap="square" rtlCol="0" anchor="ctr"/>
          <a:lstStyle/>
          <a:p>
            <a:pPr marL="0" indent="0">
              <a:buNone/>
            </a:pPr>
            <a:r>
              <a:rPr lang="en-US" sz="1050" b="1" kern="0" spc="100" dirty="0">
                <a:solidFill>
                  <a:srgbClr val="C0392B"/>
                </a:solidFill>
                <a:latin typeface="Calibri" pitchFamily="34" charset="0"/>
                <a:ea typeface="Calibri" pitchFamily="34" charset="-122"/>
                <a:cs typeface="Calibri" pitchFamily="34" charset="-120"/>
              </a:rPr>
              <a:t>BEFORE CLEANING</a:t>
            </a:r>
            <a:endParaRPr lang="en-US" sz="1050" dirty="0"/>
          </a:p>
        </p:txBody>
      </p:sp>
      <p:sp>
        <p:nvSpPr>
          <p:cNvPr id="11" name="Text 9"/>
          <p:cNvSpPr/>
          <p:nvPr/>
        </p:nvSpPr>
        <p:spPr>
          <a:xfrm>
            <a:off x="4297680" y="2615184"/>
            <a:ext cx="2834640" cy="502920"/>
          </a:xfrm>
          <a:prstGeom prst="rect">
            <a:avLst/>
          </a:prstGeom>
          <a:noFill/>
          <a:ln/>
        </p:spPr>
        <p:txBody>
          <a:bodyPr wrap="square" rtlCol="0" anchor="ctr"/>
          <a:lstStyle/>
          <a:p>
            <a:pPr marL="0" indent="0">
              <a:buNone/>
            </a:pPr>
            <a:r>
              <a:rPr lang="en-US" sz="2600" b="1" dirty="0">
                <a:solidFill>
                  <a:srgbClr val="C0392B"/>
                </a:solidFill>
                <a:latin typeface="Cambria" pitchFamily="34" charset="0"/>
                <a:ea typeface="Cambria" pitchFamily="34" charset="-122"/>
                <a:cs typeface="Cambria" pitchFamily="34" charset="-120"/>
              </a:rPr>
              <a:t>94,864</a:t>
            </a:r>
            <a:endParaRPr lang="en-US" sz="2600" dirty="0"/>
          </a:p>
        </p:txBody>
      </p:sp>
      <p:sp>
        <p:nvSpPr>
          <p:cNvPr id="12" name="Text 10"/>
          <p:cNvSpPr/>
          <p:nvPr/>
        </p:nvSpPr>
        <p:spPr>
          <a:xfrm>
            <a:off x="4297680" y="3108960"/>
            <a:ext cx="2834640" cy="548640"/>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missing </a:t>
            </a:r>
            <a:r>
              <a:rPr lang="en-US" sz="1400" dirty="0">
                <a:solidFill>
                  <a:srgbClr val="1B2430"/>
                </a:solidFill>
                <a:latin typeface="Calibri" pitchFamily="34" charset="0"/>
                <a:ea typeface="Calibri" pitchFamily="34" charset="-122"/>
                <a:cs typeface="Calibri" pitchFamily="34" charset="-120"/>
              </a:rPr>
              <a:t>readings</a:t>
            </a:r>
            <a:r>
              <a:rPr lang="en-US" sz="1150" dirty="0">
                <a:solidFill>
                  <a:srgbClr val="1B2430"/>
                </a:solidFill>
                <a:latin typeface="Calibri" pitchFamily="34" charset="0"/>
                <a:ea typeface="Calibri" pitchFamily="34" charset="-122"/>
                <a:cs typeface="Calibri" pitchFamily="34" charset="-120"/>
              </a:rPr>
              <a:t> in test (5.27%)</a:t>
            </a:r>
            <a:endParaRPr lang="en-US" sz="1150" dirty="0"/>
          </a:p>
        </p:txBody>
      </p:sp>
      <p:sp>
        <p:nvSpPr>
          <p:cNvPr id="13" name="Shape 11"/>
          <p:cNvSpPr/>
          <p:nvPr/>
        </p:nvSpPr>
        <p:spPr>
          <a:xfrm>
            <a:off x="7543800" y="2194560"/>
            <a:ext cx="4069080" cy="1554480"/>
          </a:xfrm>
          <a:prstGeom prst="roundRect">
            <a:avLst>
              <a:gd name="adj" fmla="val 4706"/>
            </a:avLst>
          </a:prstGeom>
          <a:solidFill>
            <a:srgbClr val="E8F3EC"/>
          </a:solidFill>
          <a:ln/>
          <a:effectLst>
            <a:outerShdw blurRad="101600" dist="38100" dir="5400000" algn="bl" rotWithShape="0">
              <a:srgbClr val="1B2430">
                <a:alpha val="18000"/>
              </a:srgbClr>
            </a:outerShdw>
          </a:effectLst>
        </p:spPr>
        <p:txBody>
          <a:bodyPr/>
          <a:lstStyle/>
          <a:p>
            <a:endParaRPr lang="en-ZA" sz="1400" dirty="0"/>
          </a:p>
        </p:txBody>
      </p:sp>
      <p:sp>
        <p:nvSpPr>
          <p:cNvPr id="14" name="Text 12"/>
          <p:cNvSpPr/>
          <p:nvPr/>
        </p:nvSpPr>
        <p:spPr>
          <a:xfrm>
            <a:off x="7772400" y="2359152"/>
            <a:ext cx="3566160" cy="274320"/>
          </a:xfrm>
          <a:prstGeom prst="rect">
            <a:avLst/>
          </a:prstGeom>
          <a:noFill/>
          <a:ln/>
        </p:spPr>
        <p:txBody>
          <a:bodyPr wrap="square" rtlCol="0" anchor="ctr"/>
          <a:lstStyle/>
          <a:p>
            <a:pPr marL="0" indent="0">
              <a:buNone/>
            </a:pPr>
            <a:r>
              <a:rPr lang="en-US" sz="1050" b="1" kern="0" spc="100" dirty="0">
                <a:solidFill>
                  <a:srgbClr val="1E7A46"/>
                </a:solidFill>
                <a:latin typeface="Calibri" pitchFamily="34" charset="0"/>
                <a:ea typeface="Calibri" pitchFamily="34" charset="-122"/>
                <a:cs typeface="Calibri" pitchFamily="34" charset="-120"/>
              </a:rPr>
              <a:t>AFTER CLEANING</a:t>
            </a:r>
            <a:endParaRPr lang="en-US" sz="1050" dirty="0"/>
          </a:p>
        </p:txBody>
      </p:sp>
      <p:sp>
        <p:nvSpPr>
          <p:cNvPr id="15" name="Text 13"/>
          <p:cNvSpPr/>
          <p:nvPr/>
        </p:nvSpPr>
        <p:spPr>
          <a:xfrm>
            <a:off x="7772400" y="2615184"/>
            <a:ext cx="3566160" cy="502920"/>
          </a:xfrm>
          <a:prstGeom prst="rect">
            <a:avLst/>
          </a:prstGeom>
          <a:noFill/>
          <a:ln/>
        </p:spPr>
        <p:txBody>
          <a:bodyPr wrap="square" rtlCol="0" anchor="ctr"/>
          <a:lstStyle/>
          <a:p>
            <a:pPr marL="0" indent="0">
              <a:buNone/>
            </a:pPr>
            <a:r>
              <a:rPr lang="en-US" sz="2600" b="1" dirty="0">
                <a:solidFill>
                  <a:srgbClr val="1E7A46"/>
                </a:solidFill>
                <a:latin typeface="Cambria" pitchFamily="34" charset="0"/>
                <a:ea typeface="Cambria" pitchFamily="34" charset="-122"/>
                <a:cs typeface="Cambria" pitchFamily="34" charset="-120"/>
              </a:rPr>
              <a:t>0</a:t>
            </a:r>
            <a:endParaRPr lang="en-US" sz="2600" dirty="0"/>
          </a:p>
        </p:txBody>
      </p:sp>
      <p:sp>
        <p:nvSpPr>
          <p:cNvPr id="16" name="Text 14"/>
          <p:cNvSpPr/>
          <p:nvPr/>
        </p:nvSpPr>
        <p:spPr>
          <a:xfrm>
            <a:off x="7772400" y="3108960"/>
            <a:ext cx="3566160" cy="548640"/>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missing values </a:t>
            </a:r>
            <a:r>
              <a:rPr lang="en-US" sz="1400" dirty="0">
                <a:solidFill>
                  <a:srgbClr val="1B2430"/>
                </a:solidFill>
                <a:latin typeface="Calibri" pitchFamily="34" charset="0"/>
                <a:ea typeface="Calibri" pitchFamily="34" charset="-122"/>
                <a:cs typeface="Calibri" pitchFamily="34" charset="-120"/>
              </a:rPr>
              <a:t>remaining</a:t>
            </a:r>
            <a:r>
              <a:rPr lang="en-US" sz="1150" dirty="0">
                <a:solidFill>
                  <a:srgbClr val="1B2430"/>
                </a:solidFill>
                <a:latin typeface="Calibri" pitchFamily="34" charset="0"/>
                <a:ea typeface="Calibri" pitchFamily="34" charset="-122"/>
                <a:cs typeface="Calibri" pitchFamily="34" charset="-120"/>
              </a:rPr>
              <a:t> in both sets</a:t>
            </a:r>
            <a:endParaRPr lang="en-US" sz="1150" dirty="0"/>
          </a:p>
        </p:txBody>
      </p:sp>
      <p:sp>
        <p:nvSpPr>
          <p:cNvPr id="17" name="Text 15"/>
          <p:cNvSpPr/>
          <p:nvPr/>
        </p:nvSpPr>
        <p:spPr>
          <a:xfrm>
            <a:off x="604520" y="4023360"/>
            <a:ext cx="10058400" cy="320040"/>
          </a:xfrm>
          <a:prstGeom prst="rect">
            <a:avLst/>
          </a:prstGeom>
          <a:noFill/>
          <a:ln/>
        </p:spPr>
        <p:txBody>
          <a:bodyPr wrap="square" rtlCol="0" anchor="ctr"/>
          <a:lstStyle/>
          <a:p>
            <a:pPr marL="0" indent="0">
              <a:buNone/>
            </a:pPr>
            <a:r>
              <a:rPr lang="en-US" sz="1600" b="1" kern="0" spc="100" dirty="0">
                <a:solidFill>
                  <a:srgbClr val="0B2545"/>
                </a:solidFill>
                <a:latin typeface="Calibri" pitchFamily="34" charset="0"/>
                <a:ea typeface="Calibri" pitchFamily="34" charset="-122"/>
                <a:cs typeface="Calibri" pitchFamily="34" charset="-120"/>
              </a:rPr>
              <a:t>METHOD: PER-BUILDING FORWARD-FILL → BACKWARD-FILL</a:t>
            </a:r>
            <a:endParaRPr lang="en-US" sz="1600" dirty="0"/>
          </a:p>
        </p:txBody>
      </p:sp>
      <p:sp>
        <p:nvSpPr>
          <p:cNvPr id="18" name="Shape 16"/>
          <p:cNvSpPr/>
          <p:nvPr/>
        </p:nvSpPr>
        <p:spPr>
          <a:xfrm>
            <a:off x="594360" y="4507992"/>
            <a:ext cx="109728" cy="109728"/>
          </a:xfrm>
          <a:prstGeom prst="rect">
            <a:avLst/>
          </a:prstGeom>
          <a:solidFill>
            <a:srgbClr val="F2A541"/>
          </a:solidFill>
          <a:ln/>
        </p:spPr>
        <p:txBody>
          <a:bodyPr/>
          <a:lstStyle/>
          <a:p>
            <a:endParaRPr lang="en-ZA" sz="1600"/>
          </a:p>
        </p:txBody>
      </p:sp>
      <p:sp>
        <p:nvSpPr>
          <p:cNvPr id="19" name="Text 17"/>
          <p:cNvSpPr/>
          <p:nvPr/>
        </p:nvSpPr>
        <p:spPr>
          <a:xfrm>
            <a:off x="896112" y="4361688"/>
            <a:ext cx="10515600" cy="502920"/>
          </a:xfrm>
          <a:prstGeom prst="rect">
            <a:avLst/>
          </a:prstGeom>
          <a:noFill/>
          <a:ln/>
        </p:spPr>
        <p:txBody>
          <a:bodyPr wrap="square" rtlCol="0" anchor="ctr"/>
          <a:lstStyle/>
          <a:p>
            <a:pPr marL="0" indent="0">
              <a:lnSpc>
                <a:spcPts val="1500"/>
              </a:lnSpc>
              <a:buNone/>
            </a:pPr>
            <a:r>
              <a:rPr lang="en-US" sz="1600" dirty="0">
                <a:latin typeface="Calibri" pitchFamily="34" charset="0"/>
                <a:ea typeface="Calibri" pitchFamily="34" charset="-122"/>
                <a:cs typeface="Calibri" pitchFamily="34" charset="-120"/>
              </a:rPr>
              <a:t>Building-specific baselines — consumption spans 3+ orders of magnitude across buildings; a global mean would distort each building's own scale.</a:t>
            </a:r>
            <a:endParaRPr lang="en-US" sz="1600" dirty="0"/>
          </a:p>
        </p:txBody>
      </p:sp>
      <p:sp>
        <p:nvSpPr>
          <p:cNvPr id="20" name="Shape 18"/>
          <p:cNvSpPr/>
          <p:nvPr/>
        </p:nvSpPr>
        <p:spPr>
          <a:xfrm>
            <a:off x="594360" y="5102352"/>
            <a:ext cx="109728" cy="109728"/>
          </a:xfrm>
          <a:prstGeom prst="rect">
            <a:avLst/>
          </a:prstGeom>
          <a:solidFill>
            <a:srgbClr val="F2A541"/>
          </a:solidFill>
          <a:ln/>
        </p:spPr>
        <p:txBody>
          <a:bodyPr/>
          <a:lstStyle/>
          <a:p>
            <a:endParaRPr lang="en-ZA" sz="1600"/>
          </a:p>
        </p:txBody>
      </p:sp>
      <p:sp>
        <p:nvSpPr>
          <p:cNvPr id="21" name="Text 19"/>
          <p:cNvSpPr/>
          <p:nvPr/>
        </p:nvSpPr>
        <p:spPr>
          <a:xfrm>
            <a:off x="896112" y="4956048"/>
            <a:ext cx="10515600" cy="502920"/>
          </a:xfrm>
          <a:prstGeom prst="rect">
            <a:avLst/>
          </a:prstGeom>
          <a:noFill/>
          <a:ln/>
        </p:spPr>
        <p:txBody>
          <a:bodyPr wrap="square" rtlCol="0" anchor="ctr"/>
          <a:lstStyle/>
          <a:p>
            <a:pPr marL="0" indent="0">
              <a:lnSpc>
                <a:spcPts val="1500"/>
              </a:lnSpc>
              <a:buNone/>
            </a:pPr>
            <a:r>
              <a:rPr lang="en-US" sz="1600" dirty="0">
                <a:solidFill>
                  <a:srgbClr val="1B2430"/>
                </a:solidFill>
                <a:latin typeface="Calibri" pitchFamily="34" charset="0"/>
                <a:ea typeface="Calibri" pitchFamily="34" charset="-122"/>
                <a:cs typeface="Calibri" pitchFamily="34" charset="-120"/>
              </a:rPr>
              <a:t>Temporal continuity — hourly consumption is strongly autocorrelated, so the most recent same-building reading is the best available estimate.</a:t>
            </a:r>
            <a:endParaRPr lang="en-US" sz="1600" dirty="0"/>
          </a:p>
        </p:txBody>
      </p:sp>
      <p:sp>
        <p:nvSpPr>
          <p:cNvPr id="22" name="Shape 20"/>
          <p:cNvSpPr/>
          <p:nvPr/>
        </p:nvSpPr>
        <p:spPr>
          <a:xfrm>
            <a:off x="594360" y="5696712"/>
            <a:ext cx="109728" cy="109728"/>
          </a:xfrm>
          <a:prstGeom prst="rect">
            <a:avLst/>
          </a:prstGeom>
          <a:solidFill>
            <a:srgbClr val="F2A541"/>
          </a:solidFill>
          <a:ln/>
        </p:spPr>
        <p:txBody>
          <a:bodyPr/>
          <a:lstStyle/>
          <a:p>
            <a:endParaRPr lang="en-ZA" sz="1600"/>
          </a:p>
        </p:txBody>
      </p:sp>
      <p:sp>
        <p:nvSpPr>
          <p:cNvPr id="23" name="Text 21"/>
          <p:cNvSpPr/>
          <p:nvPr/>
        </p:nvSpPr>
        <p:spPr>
          <a:xfrm>
            <a:off x="896112" y="5550408"/>
            <a:ext cx="10515600" cy="502920"/>
          </a:xfrm>
          <a:prstGeom prst="rect">
            <a:avLst/>
          </a:prstGeom>
          <a:noFill/>
          <a:ln/>
        </p:spPr>
        <p:txBody>
          <a:bodyPr wrap="square" rtlCol="0" anchor="ctr"/>
          <a:lstStyle/>
          <a:p>
            <a:pPr marL="0" indent="0">
              <a:lnSpc>
                <a:spcPts val="1500"/>
              </a:lnSpc>
              <a:buNone/>
            </a:pPr>
            <a:r>
              <a:rPr lang="en-US" sz="1600" dirty="0">
                <a:solidFill>
                  <a:srgbClr val="1B2430"/>
                </a:solidFill>
                <a:latin typeface="Calibri" pitchFamily="34" charset="0"/>
                <a:ea typeface="Calibri" pitchFamily="34" charset="-122"/>
                <a:cs typeface="Calibri" pitchFamily="34" charset="-120"/>
              </a:rPr>
              <a:t>Boundary gaps — a backward-fill pass closes gaps at the very start of a series, where forward-fill has nothing to fill from.</a:t>
            </a:r>
            <a:endParaRPr lang="en-US" sz="1600" dirty="0"/>
          </a:p>
        </p:txBody>
      </p:sp>
      <p:sp>
        <p:nvSpPr>
          <p:cNvPr id="25" name="Text 23"/>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Exploratory Analysis: Why look beyond accuracy metric</a:t>
            </a:r>
            <a:endParaRPr lang="en-US" sz="3000" dirty="0"/>
          </a:p>
        </p:txBody>
      </p:sp>
      <p:graphicFrame>
        <p:nvGraphicFramePr>
          <p:cNvPr id="4" name="Chart 0"/>
          <p:cNvGraphicFramePr/>
          <p:nvPr>
            <p:extLst>
              <p:ext uri="{D42A27DB-BD31-4B8C-83A1-F6EECF244321}">
                <p14:modId xmlns:p14="http://schemas.microsoft.com/office/powerpoint/2010/main" val="3333864854"/>
              </p:ext>
            </p:extLst>
          </p:nvPr>
        </p:nvGraphicFramePr>
        <p:xfrm>
          <a:off x="594360" y="1219200"/>
          <a:ext cx="4663440" cy="44500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23560" y="1463040"/>
            <a:ext cx="5989320" cy="1874520"/>
          </a:xfrm>
          <a:prstGeom prst="roundRect">
            <a:avLst>
              <a:gd name="adj" fmla="val 3902"/>
            </a:avLst>
          </a:prstGeom>
          <a:solidFill>
            <a:srgbClr val="F5F7FA"/>
          </a:solidFill>
          <a:ln/>
          <a:effectLst>
            <a:outerShdw blurRad="101600" dist="38100" dir="5400000" algn="bl" rotWithShape="0">
              <a:srgbClr val="1B2430">
                <a:alpha val="18000"/>
              </a:srgbClr>
            </a:outerShdw>
          </a:effectLst>
        </p:spPr>
        <p:txBody>
          <a:bodyPr/>
          <a:lstStyle/>
          <a:p>
            <a:endParaRPr lang="en-ZA"/>
          </a:p>
        </p:txBody>
      </p:sp>
      <p:sp>
        <p:nvSpPr>
          <p:cNvPr id="6" name="Text 3"/>
          <p:cNvSpPr/>
          <p:nvPr/>
        </p:nvSpPr>
        <p:spPr>
          <a:xfrm>
            <a:off x="5852160" y="1627632"/>
            <a:ext cx="2743200" cy="502920"/>
          </a:xfrm>
          <a:prstGeom prst="rect">
            <a:avLst/>
          </a:prstGeom>
          <a:noFill/>
          <a:ln/>
        </p:spPr>
        <p:txBody>
          <a:bodyPr wrap="square" rtlCol="0" anchor="ctr"/>
          <a:lstStyle/>
          <a:p>
            <a:pPr marL="0" indent="0">
              <a:buNone/>
            </a:pPr>
            <a:r>
              <a:rPr lang="en-US" sz="2600" b="1" dirty="0">
                <a:solidFill>
                  <a:srgbClr val="134074"/>
                </a:solidFill>
                <a:latin typeface="Cambria" pitchFamily="34" charset="0"/>
                <a:ea typeface="Cambria" pitchFamily="34" charset="-122"/>
                <a:cs typeface="Cambria" pitchFamily="34" charset="-120"/>
              </a:rPr>
              <a:t>1,712,198</a:t>
            </a:r>
            <a:endParaRPr lang="en-US" sz="2600" dirty="0"/>
          </a:p>
        </p:txBody>
      </p:sp>
      <p:sp>
        <p:nvSpPr>
          <p:cNvPr id="7" name="Text 4"/>
          <p:cNvSpPr/>
          <p:nvPr/>
        </p:nvSpPr>
        <p:spPr>
          <a:xfrm>
            <a:off x="5852160" y="2121408"/>
            <a:ext cx="2743200" cy="36576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normal readings (97.87%)</a:t>
            </a:r>
            <a:endParaRPr lang="en-US" sz="1400" dirty="0"/>
          </a:p>
        </p:txBody>
      </p:sp>
      <p:sp>
        <p:nvSpPr>
          <p:cNvPr id="8" name="Text 5"/>
          <p:cNvSpPr/>
          <p:nvPr/>
        </p:nvSpPr>
        <p:spPr>
          <a:xfrm>
            <a:off x="8686800" y="1627632"/>
            <a:ext cx="2743200" cy="502920"/>
          </a:xfrm>
          <a:prstGeom prst="rect">
            <a:avLst/>
          </a:prstGeom>
          <a:noFill/>
          <a:ln/>
        </p:spPr>
        <p:txBody>
          <a:bodyPr wrap="square" rtlCol="0" anchor="ctr"/>
          <a:lstStyle/>
          <a:p>
            <a:pPr marL="0" indent="0">
              <a:buNone/>
            </a:pPr>
            <a:r>
              <a:rPr lang="en-US" sz="2600" b="1" dirty="0">
                <a:solidFill>
                  <a:srgbClr val="F2A541"/>
                </a:solidFill>
                <a:latin typeface="Cambria" pitchFamily="34" charset="0"/>
                <a:ea typeface="Cambria" pitchFamily="34" charset="-122"/>
                <a:cs typeface="Cambria" pitchFamily="34" charset="-120"/>
              </a:rPr>
              <a:t>37,296</a:t>
            </a:r>
            <a:endParaRPr lang="en-US" sz="2600" dirty="0"/>
          </a:p>
        </p:txBody>
      </p:sp>
      <p:sp>
        <p:nvSpPr>
          <p:cNvPr id="9" name="Text 6"/>
          <p:cNvSpPr/>
          <p:nvPr/>
        </p:nvSpPr>
        <p:spPr>
          <a:xfrm>
            <a:off x="8686800" y="2121408"/>
            <a:ext cx="2743200" cy="36576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anomalous readings (2.13%)</a:t>
            </a:r>
            <a:endParaRPr lang="en-US" sz="1400" dirty="0"/>
          </a:p>
        </p:txBody>
      </p:sp>
      <p:sp>
        <p:nvSpPr>
          <p:cNvPr id="10" name="Shape 7"/>
          <p:cNvSpPr/>
          <p:nvPr/>
        </p:nvSpPr>
        <p:spPr>
          <a:xfrm>
            <a:off x="8549640" y="1645920"/>
            <a:ext cx="0" cy="1371600"/>
          </a:xfrm>
          <a:prstGeom prst="line">
            <a:avLst/>
          </a:prstGeom>
          <a:noFill/>
          <a:ln w="12700">
            <a:solidFill>
              <a:srgbClr val="D9DEE7"/>
            </a:solidFill>
            <a:prstDash val="solid"/>
          </a:ln>
        </p:spPr>
        <p:txBody>
          <a:bodyPr/>
          <a:lstStyle/>
          <a:p>
            <a:endParaRPr lang="en-ZA"/>
          </a:p>
        </p:txBody>
      </p:sp>
      <p:sp>
        <p:nvSpPr>
          <p:cNvPr id="11" name="Text 8"/>
          <p:cNvSpPr/>
          <p:nvPr/>
        </p:nvSpPr>
        <p:spPr>
          <a:xfrm>
            <a:off x="5623560" y="3611880"/>
            <a:ext cx="5989320" cy="1371600"/>
          </a:xfrm>
          <a:prstGeom prst="rect">
            <a:avLst/>
          </a:prstGeom>
          <a:noFill/>
          <a:ln/>
        </p:spPr>
        <p:txBody>
          <a:bodyPr wrap="square" rtlCol="0" anchor="ctr"/>
          <a:lstStyle/>
          <a:p>
            <a:pPr marL="0" indent="0">
              <a:lnSpc>
                <a:spcPts val="2000"/>
              </a:lnSpc>
              <a:buNone/>
            </a:pPr>
            <a:r>
              <a:rPr lang="en-US" sz="1400" i="1" dirty="0">
                <a:solidFill>
                  <a:srgbClr val="1B2430"/>
                </a:solidFill>
                <a:latin typeface="Calibri" pitchFamily="34" charset="0"/>
                <a:ea typeface="Calibri" pitchFamily="34" charset="-122"/>
                <a:cs typeface="Calibri" pitchFamily="34" charset="-120"/>
              </a:rPr>
              <a:t>A trivial “all-normal” classifier already scores 97.87% accuracy while catching zero real anomalies. This is why the pipeline is built and evaluated around F1-score and PR-AUC, not accuracy, from the outset.</a:t>
            </a:r>
            <a:endParaRPr lang="en-US" sz="1400" dirty="0"/>
          </a:p>
        </p:txBody>
      </p:sp>
      <p:sp>
        <p:nvSpPr>
          <p:cNvPr id="12" name="Shape 9"/>
          <p:cNvSpPr/>
          <p:nvPr/>
        </p:nvSpPr>
        <p:spPr>
          <a:xfrm>
            <a:off x="5623560" y="5120640"/>
            <a:ext cx="5989320" cy="822960"/>
          </a:xfrm>
          <a:prstGeom prst="roundRect">
            <a:avLst>
              <a:gd name="adj" fmla="val 8889"/>
            </a:avLst>
          </a:prstGeom>
          <a:solidFill>
            <a:srgbClr val="0B2545"/>
          </a:solidFill>
          <a:ln/>
        </p:spPr>
        <p:txBody>
          <a:bodyPr/>
          <a:lstStyle/>
          <a:p>
            <a:endParaRPr lang="en-ZA"/>
          </a:p>
        </p:txBody>
      </p:sp>
      <p:sp>
        <p:nvSpPr>
          <p:cNvPr id="13" name="Text 10"/>
          <p:cNvSpPr/>
          <p:nvPr/>
        </p:nvSpPr>
        <p:spPr>
          <a:xfrm>
            <a:off x="5852160" y="5120640"/>
            <a:ext cx="5577840" cy="8229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Primary metrics: F1-score &amp; PR-AUC   |   Secondary: ROC-AUC, confusion matrix</a:t>
            </a:r>
            <a:endParaRPr lang="en-US" sz="1250" dirty="0"/>
          </a:p>
        </p:txBody>
      </p:sp>
      <p:sp>
        <p:nvSpPr>
          <p:cNvPr id="15" name="Text 12"/>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66928" y="164592"/>
            <a:ext cx="11094415" cy="274320"/>
          </a:xfrm>
          <a:prstGeom prst="rect">
            <a:avLst/>
          </a:prstGeom>
          <a:noFill/>
          <a:ln/>
        </p:spPr>
        <p:txBody>
          <a:bodyPr wrap="square" rtlCol="0" anchor="ctr"/>
          <a:lstStyle/>
          <a:p>
            <a:pPr marL="0" indent="0" algn="l">
              <a:buNone/>
            </a:pPr>
            <a:r>
              <a:rPr lang="en-US" sz="1400" b="1" kern="0" spc="200" dirty="0">
                <a:solidFill>
                  <a:schemeClr val="accent2"/>
                </a:solidFill>
                <a:latin typeface="Calibri" pitchFamily="34" charset="0"/>
                <a:ea typeface="Calibri" pitchFamily="34" charset="-122"/>
                <a:cs typeface="Calibri" pitchFamily="34" charset="-120"/>
              </a:rPr>
              <a:t>EXPLORATORY ANALYSIS</a:t>
            </a:r>
            <a:endParaRPr lang="en-US" sz="1400" dirty="0">
              <a:solidFill>
                <a:schemeClr val="accent2"/>
              </a:solidFill>
            </a:endParaRPr>
          </a:p>
        </p:txBody>
      </p:sp>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Anomalies concentrate in specific buildings</a:t>
            </a:r>
            <a:endParaRPr lang="en-US" sz="3000" dirty="0"/>
          </a:p>
        </p:txBody>
      </p:sp>
      <p:graphicFrame>
        <p:nvGraphicFramePr>
          <p:cNvPr id="4" name="Chart 0"/>
          <p:cNvGraphicFramePr/>
          <p:nvPr/>
        </p:nvGraphicFramePr>
        <p:xfrm>
          <a:off x="594360" y="1417320"/>
          <a:ext cx="59436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66560" y="1417320"/>
            <a:ext cx="4846320" cy="1508760"/>
          </a:xfrm>
          <a:prstGeom prst="roundRect">
            <a:avLst>
              <a:gd name="adj" fmla="val 4848"/>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6" name="Text 3"/>
          <p:cNvSpPr/>
          <p:nvPr/>
        </p:nvSpPr>
        <p:spPr>
          <a:xfrm>
            <a:off x="6995160" y="1572768"/>
            <a:ext cx="1371600" cy="640080"/>
          </a:xfrm>
          <a:prstGeom prst="rect">
            <a:avLst/>
          </a:prstGeom>
          <a:noFill/>
          <a:ln/>
        </p:spPr>
        <p:txBody>
          <a:bodyPr wrap="square" rtlCol="0" anchor="ctr"/>
          <a:lstStyle/>
          <a:p>
            <a:pPr marL="0" indent="0">
              <a:buNone/>
            </a:pPr>
            <a:r>
              <a:rPr lang="en-US" sz="3400" b="1" dirty="0">
                <a:solidFill>
                  <a:srgbClr val="134074"/>
                </a:solidFill>
                <a:latin typeface="Cambria" pitchFamily="34" charset="0"/>
                <a:ea typeface="Cambria" pitchFamily="34" charset="-122"/>
                <a:cs typeface="Cambria" pitchFamily="34" charset="-120"/>
              </a:rPr>
              <a:t>6</a:t>
            </a:r>
            <a:endParaRPr lang="en-US" sz="3400" dirty="0"/>
          </a:p>
        </p:txBody>
      </p:sp>
      <p:sp>
        <p:nvSpPr>
          <p:cNvPr id="7" name="Text 4"/>
          <p:cNvSpPr/>
          <p:nvPr/>
        </p:nvSpPr>
        <p:spPr>
          <a:xfrm>
            <a:off x="6995160" y="2194560"/>
            <a:ext cx="2011680" cy="640080"/>
          </a:xfrm>
          <a:prstGeom prst="rect">
            <a:avLst/>
          </a:prstGeom>
          <a:noFill/>
          <a:ln/>
        </p:spPr>
        <p:txBody>
          <a:bodyPr wrap="square" rtlCol="0" anchor="ctr"/>
          <a:lstStyle/>
          <a:p>
            <a:pPr marL="0" indent="0">
              <a:lnSpc>
                <a:spcPts val="1300"/>
              </a:lnSpc>
              <a:buNone/>
            </a:pPr>
            <a:r>
              <a:rPr lang="en-US" sz="1100" dirty="0">
                <a:latin typeface="Calibri" pitchFamily="34" charset="0"/>
                <a:ea typeface="Calibri" pitchFamily="34" charset="-122"/>
                <a:cs typeface="Calibri" pitchFamily="34" charset="-120"/>
              </a:rPr>
              <a:t>buildings with</a:t>
            </a:r>
            <a:endParaRPr lang="en-US" sz="1100" dirty="0"/>
          </a:p>
          <a:p>
            <a:pPr marL="0" indent="0">
              <a:lnSpc>
                <a:spcPts val="1300"/>
              </a:lnSpc>
              <a:buNone/>
            </a:pPr>
            <a:r>
              <a:rPr lang="en-US" sz="1100" dirty="0">
                <a:latin typeface="Calibri" pitchFamily="34" charset="0"/>
                <a:ea typeface="Calibri" pitchFamily="34" charset="-122"/>
                <a:cs typeface="Calibri" pitchFamily="34" charset="-120"/>
              </a:rPr>
              <a:t>&gt;5% anomaly rate</a:t>
            </a:r>
            <a:endParaRPr lang="en-US" sz="1100" dirty="0"/>
          </a:p>
        </p:txBody>
      </p:sp>
      <p:sp>
        <p:nvSpPr>
          <p:cNvPr id="8" name="Shape 5"/>
          <p:cNvSpPr/>
          <p:nvPr/>
        </p:nvSpPr>
        <p:spPr>
          <a:xfrm>
            <a:off x="9189720" y="1600200"/>
            <a:ext cx="0" cy="1097280"/>
          </a:xfrm>
          <a:prstGeom prst="line">
            <a:avLst/>
          </a:prstGeom>
          <a:noFill/>
          <a:ln w="12700">
            <a:solidFill>
              <a:srgbClr val="D9DEE7"/>
            </a:solidFill>
            <a:prstDash val="solid"/>
          </a:ln>
        </p:spPr>
        <p:txBody>
          <a:bodyPr/>
          <a:lstStyle/>
          <a:p>
            <a:endParaRPr lang="en-ZA"/>
          </a:p>
        </p:txBody>
      </p:sp>
      <p:sp>
        <p:nvSpPr>
          <p:cNvPr id="9" name="Text 6"/>
          <p:cNvSpPr/>
          <p:nvPr/>
        </p:nvSpPr>
        <p:spPr>
          <a:xfrm>
            <a:off x="9418320" y="1572768"/>
            <a:ext cx="1371600" cy="640080"/>
          </a:xfrm>
          <a:prstGeom prst="rect">
            <a:avLst/>
          </a:prstGeom>
          <a:noFill/>
          <a:ln/>
        </p:spPr>
        <p:txBody>
          <a:bodyPr wrap="square" rtlCol="0" anchor="ctr"/>
          <a:lstStyle/>
          <a:p>
            <a:pPr marL="0" indent="0">
              <a:buNone/>
            </a:pPr>
            <a:r>
              <a:rPr lang="en-US" sz="3400" b="1" dirty="0">
                <a:solidFill>
                  <a:srgbClr val="0B2545"/>
                </a:solidFill>
                <a:latin typeface="Cambria" pitchFamily="34" charset="0"/>
                <a:ea typeface="Cambria" pitchFamily="34" charset="-122"/>
                <a:cs typeface="Cambria" pitchFamily="34" charset="-120"/>
              </a:rPr>
              <a:t>14</a:t>
            </a:r>
            <a:endParaRPr lang="en-US" sz="3400" dirty="0"/>
          </a:p>
        </p:txBody>
      </p:sp>
      <p:sp>
        <p:nvSpPr>
          <p:cNvPr id="10" name="Text 7"/>
          <p:cNvSpPr/>
          <p:nvPr/>
        </p:nvSpPr>
        <p:spPr>
          <a:xfrm>
            <a:off x="9418320" y="2194560"/>
            <a:ext cx="2011680" cy="640080"/>
          </a:xfrm>
          <a:prstGeom prst="rect">
            <a:avLst/>
          </a:prstGeom>
          <a:noFill/>
          <a:ln/>
        </p:spPr>
        <p:txBody>
          <a:bodyPr wrap="square" rtlCol="0" anchor="ctr"/>
          <a:lstStyle/>
          <a:p>
            <a:pPr marL="0" indent="0">
              <a:lnSpc>
                <a:spcPts val="1300"/>
              </a:lnSpc>
              <a:buNone/>
            </a:pPr>
            <a:r>
              <a:rPr lang="en-US" sz="1100" dirty="0">
                <a:latin typeface="Calibri" pitchFamily="34" charset="0"/>
                <a:ea typeface="Calibri" pitchFamily="34" charset="-122"/>
                <a:cs typeface="Calibri" pitchFamily="34" charset="-120"/>
              </a:rPr>
              <a:t>buildings with</a:t>
            </a:r>
            <a:endParaRPr lang="en-US" sz="1100" dirty="0"/>
          </a:p>
          <a:p>
            <a:pPr marL="0" indent="0">
              <a:lnSpc>
                <a:spcPts val="1300"/>
              </a:lnSpc>
              <a:buNone/>
            </a:pPr>
            <a:r>
              <a:rPr lang="en-US" sz="1100" dirty="0">
                <a:latin typeface="Calibri" pitchFamily="34" charset="0"/>
                <a:ea typeface="Calibri" pitchFamily="34" charset="-122"/>
                <a:cs typeface="Calibri" pitchFamily="34" charset="-120"/>
              </a:rPr>
              <a:t>&lt;1% anomaly rate</a:t>
            </a:r>
            <a:endParaRPr lang="en-US" sz="1100" dirty="0"/>
          </a:p>
        </p:txBody>
      </p:sp>
      <p:sp>
        <p:nvSpPr>
          <p:cNvPr id="11" name="Text 8"/>
          <p:cNvSpPr/>
          <p:nvPr/>
        </p:nvSpPr>
        <p:spPr>
          <a:xfrm>
            <a:off x="6766560" y="3154680"/>
            <a:ext cx="4846320" cy="1005840"/>
          </a:xfrm>
          <a:prstGeom prst="rect">
            <a:avLst/>
          </a:prstGeom>
          <a:noFill/>
          <a:ln/>
        </p:spPr>
        <p:txBody>
          <a:bodyPr wrap="square" rtlCol="0" anchor="ctr"/>
          <a:lstStyle/>
          <a:p>
            <a:pPr marL="0" indent="0">
              <a:lnSpc>
                <a:spcPts val="1800"/>
              </a:lnSpc>
              <a:buNone/>
            </a:pPr>
            <a:r>
              <a:rPr lang="en-US" sz="1300" dirty="0">
                <a:solidFill>
                  <a:srgbClr val="1B2430"/>
                </a:solidFill>
                <a:latin typeface="Calibri" pitchFamily="34" charset="0"/>
                <a:ea typeface="Calibri" pitchFamily="34" charset="-122"/>
                <a:cs typeface="Calibri" pitchFamily="34" charset="-120"/>
              </a:rPr>
              <a:t>Consumption scale also varies enormously — mean hourly readings range from under 1 kWh to 4,655.5 kWh across the 200 buildings, with coefficients of variation from 0.10 to 1.32.</a:t>
            </a:r>
            <a:endParaRPr lang="en-US" sz="1300" dirty="0"/>
          </a:p>
        </p:txBody>
      </p:sp>
      <p:sp>
        <p:nvSpPr>
          <p:cNvPr id="12" name="Text 9"/>
          <p:cNvSpPr/>
          <p:nvPr/>
        </p:nvSpPr>
        <p:spPr>
          <a:xfrm>
            <a:off x="6766560" y="4160520"/>
            <a:ext cx="4846320" cy="777240"/>
          </a:xfrm>
          <a:prstGeom prst="rect">
            <a:avLst/>
          </a:prstGeom>
          <a:noFill/>
          <a:ln/>
        </p:spPr>
        <p:txBody>
          <a:bodyPr wrap="square" rtlCol="0" anchor="ctr"/>
          <a:lstStyle/>
          <a:p>
            <a:pPr marL="0" indent="0">
              <a:lnSpc>
                <a:spcPts val="1600"/>
              </a:lnSpc>
              <a:buNone/>
            </a:pPr>
            <a:r>
              <a:rPr lang="en-US" sz="1250" b="1" i="1" dirty="0">
                <a:solidFill>
                  <a:srgbClr val="134074"/>
                </a:solidFill>
                <a:latin typeface="Calibri" pitchFamily="34" charset="0"/>
                <a:ea typeface="Calibri" pitchFamily="34" charset="-122"/>
                <a:cs typeface="Calibri" pitchFamily="34" charset="-120"/>
              </a:rPr>
              <a:t>→ A single global threshold cannot work across such a diverse portfolio — every feature had to be computed per-building.</a:t>
            </a:r>
            <a:endParaRPr lang="en-US" sz="1250" dirty="0"/>
          </a:p>
        </p:txBody>
      </p:sp>
      <p:sp>
        <p:nvSpPr>
          <p:cNvPr id="13" name="Text 10"/>
          <p:cNvSpPr/>
          <p:nvPr/>
        </p:nvSpPr>
        <p:spPr>
          <a:xfrm>
            <a:off x="594360" y="4892040"/>
            <a:ext cx="11018520" cy="1005840"/>
          </a:xfrm>
          <a:prstGeom prst="rect">
            <a:avLst/>
          </a:prstGeom>
          <a:noFill/>
          <a:ln/>
        </p:spPr>
        <p:txBody>
          <a:bodyPr wrap="square" rtlCol="0" anchor="ctr"/>
          <a:lstStyle/>
          <a:p>
            <a:pPr marL="0" indent="0">
              <a:lnSpc>
                <a:spcPts val="1700"/>
              </a:lnSpc>
              <a:buNone/>
            </a:pPr>
            <a:r>
              <a:rPr lang="en-US" sz="1400" dirty="0">
                <a:latin typeface="Calibri" pitchFamily="34" charset="0"/>
                <a:ea typeface="Calibri" pitchFamily="34" charset="-122"/>
                <a:cs typeface="Calibri" pitchFamily="34" charset="-120"/>
              </a:rPr>
              <a:t>Anomalies also cluster by hour-of-day and calendar month, and critically  most flagged points sit well within a building's normal operating range: they are anomalous relative to that building's own recent behaviour, not in absolute terms. This motivated residual and rolling Z-score features over static thresholds.</a:t>
            </a:r>
            <a:endParaRPr lang="en-US" sz="1400" dirty="0"/>
          </a:p>
        </p:txBody>
      </p:sp>
      <p:sp>
        <p:nvSpPr>
          <p:cNvPr id="15" name="Text 12"/>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Feature Engineering:</a:t>
            </a:r>
            <a:endParaRPr lang="en-US" sz="3000" dirty="0"/>
          </a:p>
        </p:txBody>
      </p:sp>
      <p:sp>
        <p:nvSpPr>
          <p:cNvPr id="4" name="Text 2"/>
          <p:cNvSpPr/>
          <p:nvPr/>
        </p:nvSpPr>
        <p:spPr>
          <a:xfrm>
            <a:off x="594360" y="1371600"/>
            <a:ext cx="10881360" cy="548640"/>
          </a:xfrm>
          <a:prstGeom prst="rect">
            <a:avLst/>
          </a:prstGeom>
          <a:noFill/>
          <a:ln/>
        </p:spPr>
        <p:txBody>
          <a:bodyPr wrap="square" rtlCol="0" anchor="ctr"/>
          <a:lstStyle/>
          <a:p>
            <a:pPr marL="0" indent="0">
              <a:buNone/>
            </a:pPr>
            <a:r>
              <a:rPr lang="en-US" sz="1600" i="1" dirty="0">
                <a:ea typeface="Calibri" pitchFamily="34" charset="-122"/>
                <a:cs typeface="Calibri" pitchFamily="34" charset="-120"/>
              </a:rPr>
              <a:t>Every lag, rolling, and residual calculation is grouped by building_id before computation — no reading from one building influences a feature for another, preventing cross-building leakage.</a:t>
            </a:r>
            <a:endParaRPr lang="en-US" sz="1600" dirty="0"/>
          </a:p>
        </p:txBody>
      </p:sp>
      <p:sp>
        <p:nvSpPr>
          <p:cNvPr id="5" name="Shape 3"/>
          <p:cNvSpPr/>
          <p:nvPr/>
        </p:nvSpPr>
        <p:spPr>
          <a:xfrm>
            <a:off x="594360" y="210312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6" name="Shape 4"/>
          <p:cNvSpPr/>
          <p:nvPr/>
        </p:nvSpPr>
        <p:spPr>
          <a:xfrm>
            <a:off x="777240" y="2286000"/>
            <a:ext cx="365760" cy="365760"/>
          </a:xfrm>
          <a:prstGeom prst="roundRect">
            <a:avLst>
              <a:gd name="adj" fmla="val 50000"/>
            </a:avLst>
          </a:prstGeom>
          <a:solidFill>
            <a:srgbClr val="F2A541"/>
          </a:solidFill>
          <a:ln/>
        </p:spPr>
        <p:txBody>
          <a:bodyPr/>
          <a:lstStyle/>
          <a:p>
            <a:endParaRPr lang="en-ZA" sz="1600"/>
          </a:p>
        </p:txBody>
      </p:sp>
      <p:sp>
        <p:nvSpPr>
          <p:cNvPr id="7" name="Text 5"/>
          <p:cNvSpPr/>
          <p:nvPr/>
        </p:nvSpPr>
        <p:spPr>
          <a:xfrm>
            <a:off x="777240" y="228600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1</a:t>
            </a:r>
            <a:endParaRPr lang="en-US" sz="1600" dirty="0"/>
          </a:p>
        </p:txBody>
      </p:sp>
      <p:sp>
        <p:nvSpPr>
          <p:cNvPr id="8" name="Text 6"/>
          <p:cNvSpPr/>
          <p:nvPr/>
        </p:nvSpPr>
        <p:spPr>
          <a:xfrm>
            <a:off x="1280160" y="226771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Cyclic time</a:t>
            </a:r>
            <a:endParaRPr lang="en-US" sz="1600" dirty="0"/>
          </a:p>
        </p:txBody>
      </p:sp>
      <p:sp>
        <p:nvSpPr>
          <p:cNvPr id="9" name="Text 7"/>
          <p:cNvSpPr/>
          <p:nvPr/>
        </p:nvSpPr>
        <p:spPr>
          <a:xfrm>
            <a:off x="795528" y="2633472"/>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hour/dow/month sin &amp; cos, is_weekend, is_night</a:t>
            </a:r>
            <a:endParaRPr lang="en-US" sz="1600" dirty="0"/>
          </a:p>
        </p:txBody>
      </p:sp>
      <p:sp>
        <p:nvSpPr>
          <p:cNvPr id="10" name="Text 8"/>
          <p:cNvSpPr/>
          <p:nvPr/>
        </p:nvSpPr>
        <p:spPr>
          <a:xfrm>
            <a:off x="795528" y="303580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Avoids false discontinuity at 23h→0h or Dec→Jan </a:t>
            </a:r>
            <a:r>
              <a:rPr lang="en-US" sz="1400" dirty="0">
                <a:ea typeface="Calibri" pitchFamily="34" charset="-122"/>
                <a:cs typeface="Calibri" pitchFamily="34" charset="-120"/>
              </a:rPr>
              <a:t>boundaries</a:t>
            </a:r>
            <a:endParaRPr lang="en-US" sz="1400" dirty="0"/>
          </a:p>
        </p:txBody>
      </p:sp>
      <p:sp>
        <p:nvSpPr>
          <p:cNvPr id="11" name="Shape 9"/>
          <p:cNvSpPr/>
          <p:nvPr/>
        </p:nvSpPr>
        <p:spPr>
          <a:xfrm>
            <a:off x="4343400" y="210312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12" name="Shape 10"/>
          <p:cNvSpPr/>
          <p:nvPr/>
        </p:nvSpPr>
        <p:spPr>
          <a:xfrm>
            <a:off x="4526280" y="2286000"/>
            <a:ext cx="365760" cy="365760"/>
          </a:xfrm>
          <a:prstGeom prst="roundRect">
            <a:avLst>
              <a:gd name="adj" fmla="val 50000"/>
            </a:avLst>
          </a:prstGeom>
          <a:solidFill>
            <a:srgbClr val="F2A541"/>
          </a:solidFill>
          <a:ln/>
        </p:spPr>
        <p:txBody>
          <a:bodyPr/>
          <a:lstStyle/>
          <a:p>
            <a:endParaRPr lang="en-ZA" sz="1600"/>
          </a:p>
        </p:txBody>
      </p:sp>
      <p:sp>
        <p:nvSpPr>
          <p:cNvPr id="13" name="Text 11"/>
          <p:cNvSpPr/>
          <p:nvPr/>
        </p:nvSpPr>
        <p:spPr>
          <a:xfrm>
            <a:off x="4526280" y="228600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2</a:t>
            </a:r>
            <a:endParaRPr lang="en-US" sz="1600" dirty="0"/>
          </a:p>
        </p:txBody>
      </p:sp>
      <p:sp>
        <p:nvSpPr>
          <p:cNvPr id="14" name="Text 12"/>
          <p:cNvSpPr/>
          <p:nvPr/>
        </p:nvSpPr>
        <p:spPr>
          <a:xfrm>
            <a:off x="5029200" y="226771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Lag features</a:t>
            </a:r>
            <a:endParaRPr lang="en-US" sz="1600" dirty="0"/>
          </a:p>
        </p:txBody>
      </p:sp>
      <p:sp>
        <p:nvSpPr>
          <p:cNvPr id="15" name="Text 13"/>
          <p:cNvSpPr/>
          <p:nvPr/>
        </p:nvSpPr>
        <p:spPr>
          <a:xfrm>
            <a:off x="4544568" y="2642616"/>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lag_1, lag_24, lag_48, lag_168</a:t>
            </a:r>
            <a:endParaRPr lang="en-US" sz="1600" dirty="0"/>
          </a:p>
        </p:txBody>
      </p:sp>
      <p:sp>
        <p:nvSpPr>
          <p:cNvPr id="16" name="Text 14"/>
          <p:cNvSpPr/>
          <p:nvPr/>
        </p:nvSpPr>
        <p:spPr>
          <a:xfrm>
            <a:off x="4544568" y="303580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Short-term memory + same-hour recurrence (yesterday / last week)</a:t>
            </a:r>
            <a:endParaRPr lang="en-US" sz="1600" dirty="0"/>
          </a:p>
        </p:txBody>
      </p:sp>
      <p:sp>
        <p:nvSpPr>
          <p:cNvPr id="17" name="Shape 15"/>
          <p:cNvSpPr/>
          <p:nvPr/>
        </p:nvSpPr>
        <p:spPr>
          <a:xfrm>
            <a:off x="8092440" y="210312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18" name="Shape 16"/>
          <p:cNvSpPr/>
          <p:nvPr/>
        </p:nvSpPr>
        <p:spPr>
          <a:xfrm>
            <a:off x="8275320" y="2286000"/>
            <a:ext cx="365760" cy="365760"/>
          </a:xfrm>
          <a:prstGeom prst="roundRect">
            <a:avLst>
              <a:gd name="adj" fmla="val 50000"/>
            </a:avLst>
          </a:prstGeom>
          <a:solidFill>
            <a:srgbClr val="F2A541"/>
          </a:solidFill>
          <a:ln/>
        </p:spPr>
        <p:txBody>
          <a:bodyPr/>
          <a:lstStyle/>
          <a:p>
            <a:endParaRPr lang="en-ZA" sz="1600"/>
          </a:p>
        </p:txBody>
      </p:sp>
      <p:sp>
        <p:nvSpPr>
          <p:cNvPr id="19" name="Text 17"/>
          <p:cNvSpPr/>
          <p:nvPr/>
        </p:nvSpPr>
        <p:spPr>
          <a:xfrm>
            <a:off x="8275320" y="228600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3</a:t>
            </a:r>
            <a:endParaRPr lang="en-US" sz="1600" dirty="0"/>
          </a:p>
        </p:txBody>
      </p:sp>
      <p:sp>
        <p:nvSpPr>
          <p:cNvPr id="20" name="Text 18"/>
          <p:cNvSpPr/>
          <p:nvPr/>
        </p:nvSpPr>
        <p:spPr>
          <a:xfrm>
            <a:off x="8778240" y="226771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Rolling statistics</a:t>
            </a:r>
            <a:endParaRPr lang="en-US" sz="1600" dirty="0"/>
          </a:p>
        </p:txBody>
      </p:sp>
      <p:sp>
        <p:nvSpPr>
          <p:cNvPr id="21" name="Text 19"/>
          <p:cNvSpPr/>
          <p:nvPr/>
        </p:nvSpPr>
        <p:spPr>
          <a:xfrm>
            <a:off x="8293608" y="2651760"/>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mean / std / min / max @ 6h, 24h, 168h</a:t>
            </a:r>
            <a:endParaRPr lang="en-US" sz="1600" dirty="0"/>
          </a:p>
        </p:txBody>
      </p:sp>
      <p:sp>
        <p:nvSpPr>
          <p:cNvPr id="22" name="Text 20"/>
          <p:cNvSpPr/>
          <p:nvPr/>
        </p:nvSpPr>
        <p:spPr>
          <a:xfrm>
            <a:off x="8293608" y="303580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Local baseline and volatility at multiple time horizons</a:t>
            </a:r>
            <a:endParaRPr lang="en-US" sz="1600" dirty="0"/>
          </a:p>
        </p:txBody>
      </p:sp>
      <p:sp>
        <p:nvSpPr>
          <p:cNvPr id="23" name="Shape 21"/>
          <p:cNvSpPr/>
          <p:nvPr/>
        </p:nvSpPr>
        <p:spPr>
          <a:xfrm>
            <a:off x="594360" y="374904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24" name="Shape 22"/>
          <p:cNvSpPr/>
          <p:nvPr/>
        </p:nvSpPr>
        <p:spPr>
          <a:xfrm>
            <a:off x="777240" y="3931920"/>
            <a:ext cx="365760" cy="365760"/>
          </a:xfrm>
          <a:prstGeom prst="roundRect">
            <a:avLst>
              <a:gd name="adj" fmla="val 50000"/>
            </a:avLst>
          </a:prstGeom>
          <a:solidFill>
            <a:srgbClr val="F2A541"/>
          </a:solidFill>
          <a:ln/>
        </p:spPr>
        <p:txBody>
          <a:bodyPr/>
          <a:lstStyle/>
          <a:p>
            <a:endParaRPr lang="en-ZA" sz="1600"/>
          </a:p>
        </p:txBody>
      </p:sp>
      <p:sp>
        <p:nvSpPr>
          <p:cNvPr id="25" name="Text 23"/>
          <p:cNvSpPr/>
          <p:nvPr/>
        </p:nvSpPr>
        <p:spPr>
          <a:xfrm>
            <a:off x="777240" y="393192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4</a:t>
            </a:r>
            <a:endParaRPr lang="en-US" sz="1600" dirty="0"/>
          </a:p>
        </p:txBody>
      </p:sp>
      <p:sp>
        <p:nvSpPr>
          <p:cNvPr id="26" name="Text 24"/>
          <p:cNvSpPr/>
          <p:nvPr/>
        </p:nvSpPr>
        <p:spPr>
          <a:xfrm>
            <a:off x="1280160" y="391363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Residual &amp; Z-score</a:t>
            </a:r>
            <a:endParaRPr lang="en-US" sz="1600" dirty="0"/>
          </a:p>
        </p:txBody>
      </p:sp>
      <p:sp>
        <p:nvSpPr>
          <p:cNvPr id="27" name="Text 25"/>
          <p:cNvSpPr/>
          <p:nvPr/>
        </p:nvSpPr>
        <p:spPr>
          <a:xfrm>
            <a:off x="795528" y="4288536"/>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residual &amp; z_score @ 6h, 24h, 168h</a:t>
            </a:r>
            <a:endParaRPr lang="en-US" sz="1600" dirty="0"/>
          </a:p>
        </p:txBody>
      </p:sp>
      <p:sp>
        <p:nvSpPr>
          <p:cNvPr id="28" name="Text 26"/>
          <p:cNvSpPr/>
          <p:nvPr/>
        </p:nvSpPr>
        <p:spPr>
          <a:xfrm>
            <a:off x="795528" y="468172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The strongest signal: how far a reading deviates from its own norm</a:t>
            </a:r>
            <a:endParaRPr lang="en-US" sz="1600" dirty="0"/>
          </a:p>
        </p:txBody>
      </p:sp>
      <p:sp>
        <p:nvSpPr>
          <p:cNvPr id="29" name="Shape 27"/>
          <p:cNvSpPr/>
          <p:nvPr/>
        </p:nvSpPr>
        <p:spPr>
          <a:xfrm>
            <a:off x="4343400" y="374904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30" name="Shape 28"/>
          <p:cNvSpPr/>
          <p:nvPr/>
        </p:nvSpPr>
        <p:spPr>
          <a:xfrm>
            <a:off x="4526280" y="3931920"/>
            <a:ext cx="365760" cy="365760"/>
          </a:xfrm>
          <a:prstGeom prst="roundRect">
            <a:avLst>
              <a:gd name="adj" fmla="val 50000"/>
            </a:avLst>
          </a:prstGeom>
          <a:solidFill>
            <a:srgbClr val="F2A541"/>
          </a:solidFill>
          <a:ln/>
        </p:spPr>
        <p:txBody>
          <a:bodyPr/>
          <a:lstStyle/>
          <a:p>
            <a:endParaRPr lang="en-ZA" sz="1600"/>
          </a:p>
        </p:txBody>
      </p:sp>
      <p:sp>
        <p:nvSpPr>
          <p:cNvPr id="31" name="Text 29"/>
          <p:cNvSpPr/>
          <p:nvPr/>
        </p:nvSpPr>
        <p:spPr>
          <a:xfrm>
            <a:off x="4526280" y="393192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5</a:t>
            </a:r>
            <a:endParaRPr lang="en-US" sz="1600" dirty="0"/>
          </a:p>
        </p:txBody>
      </p:sp>
      <p:sp>
        <p:nvSpPr>
          <p:cNvPr id="32" name="Text 30"/>
          <p:cNvSpPr/>
          <p:nvPr/>
        </p:nvSpPr>
        <p:spPr>
          <a:xfrm>
            <a:off x="5029200" y="391363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Rate of change</a:t>
            </a:r>
            <a:endParaRPr lang="en-US" sz="1600" dirty="0"/>
          </a:p>
        </p:txBody>
      </p:sp>
      <p:sp>
        <p:nvSpPr>
          <p:cNvPr id="33" name="Text 31"/>
          <p:cNvSpPr/>
          <p:nvPr/>
        </p:nvSpPr>
        <p:spPr>
          <a:xfrm>
            <a:off x="4544568" y="4239768"/>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pct_change_1/24, diff_1/24</a:t>
            </a:r>
            <a:endParaRPr lang="en-US" sz="1600" dirty="0"/>
          </a:p>
        </p:txBody>
      </p:sp>
      <p:sp>
        <p:nvSpPr>
          <p:cNvPr id="34" name="Text 32"/>
          <p:cNvSpPr/>
          <p:nvPr/>
        </p:nvSpPr>
        <p:spPr>
          <a:xfrm>
            <a:off x="4544568" y="468172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Flags sudden spikes or drops a static level misses</a:t>
            </a:r>
            <a:endParaRPr lang="en-US" sz="1600" dirty="0"/>
          </a:p>
        </p:txBody>
      </p:sp>
      <p:sp>
        <p:nvSpPr>
          <p:cNvPr id="35" name="Shape 33"/>
          <p:cNvSpPr/>
          <p:nvPr/>
        </p:nvSpPr>
        <p:spPr>
          <a:xfrm>
            <a:off x="8092440" y="3749040"/>
            <a:ext cx="3520440" cy="1417320"/>
          </a:xfrm>
          <a:prstGeom prst="roundRect">
            <a:avLst>
              <a:gd name="adj" fmla="val 5161"/>
            </a:avLst>
          </a:prstGeom>
          <a:solidFill>
            <a:srgbClr val="FFFFFF"/>
          </a:solidFill>
          <a:ln/>
          <a:effectLst>
            <a:outerShdw blurRad="101600" dist="38100" dir="5400000" algn="bl" rotWithShape="0">
              <a:srgbClr val="1B2430">
                <a:alpha val="18000"/>
              </a:srgbClr>
            </a:outerShdw>
          </a:effectLst>
        </p:spPr>
        <p:txBody>
          <a:bodyPr/>
          <a:lstStyle/>
          <a:p>
            <a:endParaRPr lang="en-ZA" sz="1600"/>
          </a:p>
        </p:txBody>
      </p:sp>
      <p:sp>
        <p:nvSpPr>
          <p:cNvPr id="36" name="Shape 34"/>
          <p:cNvSpPr/>
          <p:nvPr/>
        </p:nvSpPr>
        <p:spPr>
          <a:xfrm>
            <a:off x="8275320" y="3931920"/>
            <a:ext cx="365760" cy="365760"/>
          </a:xfrm>
          <a:prstGeom prst="roundRect">
            <a:avLst>
              <a:gd name="adj" fmla="val 50000"/>
            </a:avLst>
          </a:prstGeom>
          <a:solidFill>
            <a:srgbClr val="F2A541"/>
          </a:solidFill>
          <a:ln/>
        </p:spPr>
        <p:txBody>
          <a:bodyPr/>
          <a:lstStyle/>
          <a:p>
            <a:endParaRPr lang="en-ZA" sz="1600"/>
          </a:p>
        </p:txBody>
      </p:sp>
      <p:sp>
        <p:nvSpPr>
          <p:cNvPr id="37" name="Text 35"/>
          <p:cNvSpPr/>
          <p:nvPr/>
        </p:nvSpPr>
        <p:spPr>
          <a:xfrm>
            <a:off x="8275320" y="3931920"/>
            <a:ext cx="365760" cy="365760"/>
          </a:xfrm>
          <a:prstGeom prst="rect">
            <a:avLst/>
          </a:prstGeom>
          <a:noFill/>
          <a:ln/>
        </p:spPr>
        <p:txBody>
          <a:bodyPr wrap="square" rtlCol="0" anchor="ctr"/>
          <a:lstStyle/>
          <a:p>
            <a:pPr marL="0" indent="0" algn="ctr">
              <a:buNone/>
            </a:pPr>
            <a:r>
              <a:rPr lang="en-US" sz="1600" b="1" dirty="0">
                <a:solidFill>
                  <a:srgbClr val="0B2545"/>
                </a:solidFill>
                <a:ea typeface="Cambria" pitchFamily="34" charset="-122"/>
                <a:cs typeface="Cambria" pitchFamily="34" charset="-120"/>
              </a:rPr>
              <a:t>6</a:t>
            </a:r>
            <a:endParaRPr lang="en-US" sz="1600" dirty="0"/>
          </a:p>
        </p:txBody>
      </p:sp>
      <p:sp>
        <p:nvSpPr>
          <p:cNvPr id="38" name="Text 36"/>
          <p:cNvSpPr/>
          <p:nvPr/>
        </p:nvSpPr>
        <p:spPr>
          <a:xfrm>
            <a:off x="8778240" y="3913632"/>
            <a:ext cx="2697480" cy="365760"/>
          </a:xfrm>
          <a:prstGeom prst="rect">
            <a:avLst/>
          </a:prstGeom>
          <a:noFill/>
          <a:ln/>
        </p:spPr>
        <p:txBody>
          <a:bodyPr wrap="square" rtlCol="0" anchor="ctr"/>
          <a:lstStyle/>
          <a:p>
            <a:pPr marL="0" indent="0">
              <a:buNone/>
            </a:pPr>
            <a:r>
              <a:rPr lang="en-US" sz="1600" b="1" dirty="0">
                <a:solidFill>
                  <a:srgbClr val="0B2545"/>
                </a:solidFill>
                <a:ea typeface="Calibri" pitchFamily="34" charset="-122"/>
                <a:cs typeface="Calibri" pitchFamily="34" charset="-120"/>
              </a:rPr>
              <a:t>Outlier flag</a:t>
            </a:r>
            <a:endParaRPr lang="en-US" sz="1600" dirty="0"/>
          </a:p>
        </p:txBody>
      </p:sp>
      <p:sp>
        <p:nvSpPr>
          <p:cNvPr id="39" name="Text 37"/>
          <p:cNvSpPr/>
          <p:nvPr/>
        </p:nvSpPr>
        <p:spPr>
          <a:xfrm>
            <a:off x="8293608" y="4288536"/>
            <a:ext cx="3118104" cy="365760"/>
          </a:xfrm>
          <a:prstGeom prst="rect">
            <a:avLst/>
          </a:prstGeom>
          <a:noFill/>
          <a:ln/>
        </p:spPr>
        <p:txBody>
          <a:bodyPr wrap="square" rtlCol="0" anchor="ctr"/>
          <a:lstStyle/>
          <a:p>
            <a:pPr marL="0" indent="0">
              <a:buNone/>
            </a:pPr>
            <a:r>
              <a:rPr lang="en-US" sz="1600" i="1" dirty="0">
                <a:solidFill>
                  <a:srgbClr val="134074"/>
                </a:solidFill>
                <a:ea typeface="Calibri" pitchFamily="34" charset="-122"/>
                <a:cs typeface="Calibri" pitchFamily="34" charset="-120"/>
              </a:rPr>
              <a:t>iqr_outlier</a:t>
            </a:r>
            <a:endParaRPr lang="en-US" sz="1600" dirty="0"/>
          </a:p>
        </p:txBody>
      </p:sp>
      <p:sp>
        <p:nvSpPr>
          <p:cNvPr id="40" name="Text 38"/>
          <p:cNvSpPr/>
          <p:nvPr/>
        </p:nvSpPr>
        <p:spPr>
          <a:xfrm>
            <a:off x="8293608" y="4681728"/>
            <a:ext cx="3118104" cy="438912"/>
          </a:xfrm>
          <a:prstGeom prst="rect">
            <a:avLst/>
          </a:prstGeom>
          <a:noFill/>
          <a:ln/>
        </p:spPr>
        <p:txBody>
          <a:bodyPr wrap="square" rtlCol="0" anchor="ctr"/>
          <a:lstStyle/>
          <a:p>
            <a:pPr marL="0" indent="0">
              <a:lnSpc>
                <a:spcPts val="1200"/>
              </a:lnSpc>
              <a:buNone/>
            </a:pPr>
            <a:r>
              <a:rPr lang="en-US" sz="1600" dirty="0">
                <a:ea typeface="Calibri" pitchFamily="34" charset="-122"/>
                <a:cs typeface="Calibri" pitchFamily="34" charset="-120"/>
              </a:rPr>
              <a:t>Robust, non-parametric flag on each building's own IQR</a:t>
            </a:r>
            <a:endParaRPr lang="en-US" sz="1600" dirty="0"/>
          </a:p>
        </p:txBody>
      </p:sp>
      <p:sp>
        <p:nvSpPr>
          <p:cNvPr id="42" name="Text 4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a:effectLst/>
      </p:bgPr>
    </p:bg>
    <p:spTree>
      <p:nvGrpSpPr>
        <p:cNvPr id="1" name=""/>
        <p:cNvGrpSpPr/>
        <p:nvPr/>
      </p:nvGrpSpPr>
      <p:grpSpPr>
        <a:xfrm>
          <a:off x="0" y="0"/>
          <a:ext cx="0" cy="0"/>
          <a:chOff x="0" y="0"/>
          <a:chExt cx="0" cy="0"/>
        </a:xfrm>
      </p:grpSpPr>
      <p:sp>
        <p:nvSpPr>
          <p:cNvPr id="3" name="Text 1"/>
          <p:cNvSpPr/>
          <p:nvPr/>
        </p:nvSpPr>
        <p:spPr>
          <a:xfrm>
            <a:off x="548792" y="274320"/>
            <a:ext cx="11094415" cy="73152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Validation Strategy: A leakage-safe, building-aware split</a:t>
            </a:r>
            <a:endParaRPr lang="en-US" sz="3000" dirty="0"/>
          </a:p>
        </p:txBody>
      </p:sp>
      <p:sp>
        <p:nvSpPr>
          <p:cNvPr id="4" name="Text 2"/>
          <p:cNvSpPr/>
          <p:nvPr/>
        </p:nvSpPr>
        <p:spPr>
          <a:xfrm>
            <a:off x="594360" y="1417320"/>
            <a:ext cx="10881360" cy="685800"/>
          </a:xfrm>
          <a:prstGeom prst="rect">
            <a:avLst/>
          </a:prstGeom>
          <a:noFill/>
          <a:ln/>
        </p:spPr>
        <p:txBody>
          <a:bodyPr wrap="square" rtlCol="0" anchor="ctr"/>
          <a:lstStyle/>
          <a:p>
            <a:pPr marL="0" indent="0">
              <a:lnSpc>
                <a:spcPts val="2000"/>
              </a:lnSpc>
              <a:buNone/>
            </a:pPr>
            <a:r>
              <a:rPr lang="en-US" sz="1600" b="1" dirty="0">
                <a:solidFill>
                  <a:schemeClr val="bg1"/>
                </a:solidFill>
                <a:latin typeface="Calibri" pitchFamily="34" charset="0"/>
                <a:ea typeface="Calibri" pitchFamily="34" charset="-122"/>
                <a:cs typeface="Calibri" pitchFamily="34" charset="-120"/>
              </a:rPr>
              <a:t>The test set contains 206 buildings never seen in training. A row-level random split would let the model implicitly memorise building baselines it will never see again — producing an unrealistically optimistic score.</a:t>
            </a:r>
            <a:endParaRPr lang="en-US" sz="1600" b="1" dirty="0">
              <a:solidFill>
                <a:schemeClr val="bg1"/>
              </a:solidFill>
            </a:endParaRPr>
          </a:p>
        </p:txBody>
      </p:sp>
      <p:sp>
        <p:nvSpPr>
          <p:cNvPr id="5" name="Shape 3"/>
          <p:cNvSpPr/>
          <p:nvPr/>
        </p:nvSpPr>
        <p:spPr>
          <a:xfrm>
            <a:off x="594360" y="2423160"/>
            <a:ext cx="5212080" cy="2286000"/>
          </a:xfrm>
          <a:prstGeom prst="roundRect">
            <a:avLst>
              <a:gd name="adj" fmla="val 3200"/>
            </a:avLst>
          </a:prstGeom>
          <a:solidFill>
            <a:srgbClr val="0F3562"/>
          </a:solidFill>
          <a:ln/>
        </p:spPr>
        <p:txBody>
          <a:bodyPr/>
          <a:lstStyle/>
          <a:p>
            <a:endParaRPr lang="en-ZA"/>
          </a:p>
        </p:txBody>
      </p:sp>
      <p:sp>
        <p:nvSpPr>
          <p:cNvPr id="6" name="Text 4"/>
          <p:cNvSpPr/>
          <p:nvPr/>
        </p:nvSpPr>
        <p:spPr>
          <a:xfrm>
            <a:off x="868680" y="2606040"/>
            <a:ext cx="4572000" cy="274320"/>
          </a:xfrm>
          <a:prstGeom prst="rect">
            <a:avLst/>
          </a:prstGeom>
          <a:noFill/>
          <a:ln/>
        </p:spPr>
        <p:txBody>
          <a:bodyPr wrap="square" rtlCol="0" anchor="ctr"/>
          <a:lstStyle/>
          <a:p>
            <a:pPr marL="0" indent="0">
              <a:buNone/>
            </a:pPr>
            <a:r>
              <a:rPr lang="en-US" sz="1100" b="1" kern="0" spc="120" dirty="0">
                <a:solidFill>
                  <a:schemeClr val="accent2"/>
                </a:solidFill>
                <a:latin typeface="Calibri" pitchFamily="34" charset="0"/>
                <a:ea typeface="Calibri" pitchFamily="34" charset="-122"/>
                <a:cs typeface="Calibri" pitchFamily="34" charset="-120"/>
              </a:rPr>
              <a:t>TRAINING BUILDINGS</a:t>
            </a:r>
            <a:endParaRPr lang="en-US" sz="1100" dirty="0">
              <a:solidFill>
                <a:schemeClr val="accent2"/>
              </a:solidFill>
            </a:endParaRPr>
          </a:p>
        </p:txBody>
      </p:sp>
      <p:sp>
        <p:nvSpPr>
          <p:cNvPr id="7" name="Text 5"/>
          <p:cNvSpPr/>
          <p:nvPr/>
        </p:nvSpPr>
        <p:spPr>
          <a:xfrm>
            <a:off x="868680" y="2880360"/>
            <a:ext cx="2286000" cy="82296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140</a:t>
            </a:r>
            <a:endParaRPr lang="en-US" sz="4600" dirty="0"/>
          </a:p>
        </p:txBody>
      </p:sp>
      <p:sp>
        <p:nvSpPr>
          <p:cNvPr id="8" name="Text 6"/>
          <p:cNvSpPr/>
          <p:nvPr/>
        </p:nvSpPr>
        <p:spPr>
          <a:xfrm>
            <a:off x="868680" y="3611880"/>
            <a:ext cx="228600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buildings (70%)</a:t>
            </a:r>
            <a:endParaRPr lang="en-US" sz="1200" dirty="0"/>
          </a:p>
        </p:txBody>
      </p:sp>
      <p:sp>
        <p:nvSpPr>
          <p:cNvPr id="9" name="Shape 7"/>
          <p:cNvSpPr/>
          <p:nvPr/>
        </p:nvSpPr>
        <p:spPr>
          <a:xfrm>
            <a:off x="3291840" y="2743200"/>
            <a:ext cx="0" cy="914400"/>
          </a:xfrm>
          <a:prstGeom prst="line">
            <a:avLst/>
          </a:prstGeom>
          <a:noFill/>
          <a:ln w="12700">
            <a:solidFill>
              <a:srgbClr val="2B4E7A"/>
            </a:solidFill>
            <a:prstDash val="solid"/>
          </a:ln>
        </p:spPr>
        <p:txBody>
          <a:bodyPr/>
          <a:lstStyle/>
          <a:p>
            <a:endParaRPr lang="en-ZA"/>
          </a:p>
        </p:txBody>
      </p:sp>
      <p:sp>
        <p:nvSpPr>
          <p:cNvPr id="10" name="Text 8"/>
          <p:cNvSpPr/>
          <p:nvPr/>
        </p:nvSpPr>
        <p:spPr>
          <a:xfrm>
            <a:off x="3520440" y="2971800"/>
            <a:ext cx="2148840" cy="82296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1,223,718 rows</a:t>
            </a:r>
            <a:endParaRPr lang="en-US" sz="1200" dirty="0"/>
          </a:p>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25,170 anomalies (2.06%)</a:t>
            </a:r>
            <a:endParaRPr lang="en-US" sz="1200" dirty="0"/>
          </a:p>
        </p:txBody>
      </p:sp>
      <p:sp>
        <p:nvSpPr>
          <p:cNvPr id="11" name="Shape 9"/>
          <p:cNvSpPr/>
          <p:nvPr/>
        </p:nvSpPr>
        <p:spPr>
          <a:xfrm>
            <a:off x="6355080" y="2423160"/>
            <a:ext cx="5212080" cy="2286000"/>
          </a:xfrm>
          <a:prstGeom prst="roundRect">
            <a:avLst>
              <a:gd name="adj" fmla="val 3200"/>
            </a:avLst>
          </a:prstGeom>
          <a:solidFill>
            <a:srgbClr val="0F3562"/>
          </a:solidFill>
          <a:ln/>
        </p:spPr>
        <p:txBody>
          <a:bodyPr/>
          <a:lstStyle/>
          <a:p>
            <a:endParaRPr lang="en-ZA"/>
          </a:p>
        </p:txBody>
      </p:sp>
      <p:sp>
        <p:nvSpPr>
          <p:cNvPr id="12" name="Text 10"/>
          <p:cNvSpPr/>
          <p:nvPr/>
        </p:nvSpPr>
        <p:spPr>
          <a:xfrm>
            <a:off x="6629400" y="2606040"/>
            <a:ext cx="4572000" cy="274320"/>
          </a:xfrm>
          <a:prstGeom prst="rect">
            <a:avLst/>
          </a:prstGeom>
          <a:noFill/>
          <a:ln/>
        </p:spPr>
        <p:txBody>
          <a:bodyPr wrap="square" rtlCol="0" anchor="ctr"/>
          <a:lstStyle/>
          <a:p>
            <a:pPr marL="0" indent="0">
              <a:buNone/>
            </a:pPr>
            <a:r>
              <a:rPr lang="en-US" sz="1100" b="1" kern="0" spc="120" dirty="0">
                <a:solidFill>
                  <a:schemeClr val="accent2"/>
                </a:solidFill>
                <a:latin typeface="Calibri" pitchFamily="34" charset="0"/>
                <a:ea typeface="Calibri" pitchFamily="34" charset="-122"/>
                <a:cs typeface="Calibri" pitchFamily="34" charset="-120"/>
              </a:rPr>
              <a:t>VALIDATION BUILDINGS</a:t>
            </a:r>
            <a:endParaRPr lang="en-US" sz="1100" dirty="0">
              <a:solidFill>
                <a:schemeClr val="accent2"/>
              </a:solidFill>
            </a:endParaRPr>
          </a:p>
        </p:txBody>
      </p:sp>
      <p:sp>
        <p:nvSpPr>
          <p:cNvPr id="13" name="Text 11"/>
          <p:cNvSpPr/>
          <p:nvPr/>
        </p:nvSpPr>
        <p:spPr>
          <a:xfrm>
            <a:off x="6629400" y="2880360"/>
            <a:ext cx="2286000" cy="82296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60</a:t>
            </a:r>
            <a:endParaRPr lang="en-US" sz="4600" dirty="0"/>
          </a:p>
        </p:txBody>
      </p:sp>
      <p:sp>
        <p:nvSpPr>
          <p:cNvPr id="14" name="Text 12"/>
          <p:cNvSpPr/>
          <p:nvPr/>
        </p:nvSpPr>
        <p:spPr>
          <a:xfrm>
            <a:off x="6629400" y="3611880"/>
            <a:ext cx="228600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buildings (30%)</a:t>
            </a:r>
            <a:endParaRPr lang="en-US" sz="1200" dirty="0"/>
          </a:p>
        </p:txBody>
      </p:sp>
      <p:sp>
        <p:nvSpPr>
          <p:cNvPr id="15" name="Shape 13"/>
          <p:cNvSpPr/>
          <p:nvPr/>
        </p:nvSpPr>
        <p:spPr>
          <a:xfrm>
            <a:off x="9052560" y="2743200"/>
            <a:ext cx="0" cy="914400"/>
          </a:xfrm>
          <a:prstGeom prst="line">
            <a:avLst/>
          </a:prstGeom>
          <a:noFill/>
          <a:ln w="12700">
            <a:solidFill>
              <a:srgbClr val="2B4E7A"/>
            </a:solidFill>
            <a:prstDash val="solid"/>
          </a:ln>
        </p:spPr>
        <p:txBody>
          <a:bodyPr/>
          <a:lstStyle/>
          <a:p>
            <a:endParaRPr lang="en-ZA"/>
          </a:p>
        </p:txBody>
      </p:sp>
      <p:sp>
        <p:nvSpPr>
          <p:cNvPr id="16" name="Text 14"/>
          <p:cNvSpPr/>
          <p:nvPr/>
        </p:nvSpPr>
        <p:spPr>
          <a:xfrm>
            <a:off x="9281160" y="2971800"/>
            <a:ext cx="2148840" cy="822960"/>
          </a:xfrm>
          <a:prstGeom prst="rect">
            <a:avLst/>
          </a:prstGeom>
          <a:noFill/>
          <a:ln/>
        </p:spPr>
        <p:txBody>
          <a:bodyPr wrap="square"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525,776 rows</a:t>
            </a:r>
            <a:endParaRPr lang="en-US" sz="1200" dirty="0"/>
          </a:p>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12,126 anomalies (2.31%)</a:t>
            </a:r>
            <a:endParaRPr lang="en-US" sz="1200" dirty="0"/>
          </a:p>
        </p:txBody>
      </p:sp>
      <p:sp>
        <p:nvSpPr>
          <p:cNvPr id="17" name="Shape 15"/>
          <p:cNvSpPr/>
          <p:nvPr/>
        </p:nvSpPr>
        <p:spPr>
          <a:xfrm>
            <a:off x="594360" y="4937760"/>
            <a:ext cx="10972800" cy="1234440"/>
          </a:xfrm>
          <a:prstGeom prst="roundRect">
            <a:avLst>
              <a:gd name="adj" fmla="val 5926"/>
            </a:avLst>
          </a:prstGeom>
          <a:solidFill>
            <a:srgbClr val="F2A541"/>
          </a:solidFill>
          <a:ln/>
        </p:spPr>
        <p:txBody>
          <a:bodyPr/>
          <a:lstStyle/>
          <a:p>
            <a:endParaRPr lang="en-ZA"/>
          </a:p>
        </p:txBody>
      </p:sp>
      <p:sp>
        <p:nvSpPr>
          <p:cNvPr id="18" name="Text 16"/>
          <p:cNvSpPr/>
          <p:nvPr/>
        </p:nvSpPr>
        <p:spPr>
          <a:xfrm>
            <a:off x="868680" y="4937760"/>
            <a:ext cx="10424160" cy="1234440"/>
          </a:xfrm>
          <a:prstGeom prst="rect">
            <a:avLst/>
          </a:prstGeom>
          <a:noFill/>
          <a:ln/>
        </p:spPr>
        <p:txBody>
          <a:bodyPr wrap="square" rtlCol="0" anchor="ctr"/>
          <a:lstStyle/>
          <a:p>
            <a:pPr marL="0" indent="0">
              <a:lnSpc>
                <a:spcPts val="1900"/>
              </a:lnSpc>
              <a:buNone/>
            </a:pPr>
            <a:r>
              <a:rPr lang="en-US" sz="1400" b="1" dirty="0">
                <a:solidFill>
                  <a:srgbClr val="0B2545"/>
                </a:solidFill>
                <a:latin typeface="Calibri" pitchFamily="34" charset="0"/>
                <a:ea typeface="Calibri" pitchFamily="34" charset="-122"/>
                <a:cs typeface="Calibri" pitchFamily="34" charset="-120"/>
              </a:rPr>
              <a:t>Held-out buildings are entirely new to the model — simulating real deployment on unseen buildings. Cross-checked with 5-fold GroupKFold (grouped by building_id) to confirm the split was representative.</a:t>
            </a:r>
            <a:endParaRPr lang="en-US" sz="1400" dirty="0"/>
          </a:p>
        </p:txBody>
      </p:sp>
      <p:sp>
        <p:nvSpPr>
          <p:cNvPr id="20" name="Text 18"/>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9FB3D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1601" y="306325"/>
            <a:ext cx="11997266"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Model Development: Classifiers with imbalance handling capability </a:t>
            </a:r>
            <a:endParaRPr lang="en-US" sz="3000" dirty="0"/>
          </a:p>
        </p:txBody>
      </p:sp>
      <p:sp>
        <p:nvSpPr>
          <p:cNvPr id="4" name="Shape 2"/>
          <p:cNvSpPr/>
          <p:nvPr/>
        </p:nvSpPr>
        <p:spPr>
          <a:xfrm>
            <a:off x="594360" y="1463040"/>
            <a:ext cx="3520440" cy="3246120"/>
          </a:xfrm>
          <a:prstGeom prst="roundRect">
            <a:avLst>
              <a:gd name="adj" fmla="val 2254"/>
            </a:avLst>
          </a:prstGeom>
          <a:solidFill>
            <a:srgbClr val="F5F7FA"/>
          </a:solidFill>
          <a:ln/>
        </p:spPr>
        <p:txBody>
          <a:bodyPr/>
          <a:lstStyle/>
          <a:p>
            <a:endParaRPr lang="en-ZA"/>
          </a:p>
        </p:txBody>
      </p:sp>
      <p:sp>
        <p:nvSpPr>
          <p:cNvPr id="5" name="Text 3"/>
          <p:cNvSpPr/>
          <p:nvPr/>
        </p:nvSpPr>
        <p:spPr>
          <a:xfrm>
            <a:off x="822960" y="1737360"/>
            <a:ext cx="3063240" cy="594360"/>
          </a:xfrm>
          <a:prstGeom prst="rect">
            <a:avLst/>
          </a:prstGeom>
          <a:noFill/>
          <a:ln/>
        </p:spPr>
        <p:txBody>
          <a:bodyPr wrap="square" rtlCol="0" anchor="ctr"/>
          <a:lstStyle/>
          <a:p>
            <a:pPr marL="0" indent="0">
              <a:buNone/>
            </a:pPr>
            <a:r>
              <a:rPr lang="en-US" sz="1800" b="1" dirty="0">
                <a:solidFill>
                  <a:srgbClr val="0B2545"/>
                </a:solidFill>
                <a:latin typeface="Cambria" pitchFamily="34" charset="0"/>
                <a:ea typeface="Cambria" pitchFamily="34" charset="-122"/>
                <a:cs typeface="Cambria" pitchFamily="34" charset="-120"/>
              </a:rPr>
              <a:t>XGBoost</a:t>
            </a:r>
            <a:endParaRPr lang="en-US" sz="1800" dirty="0"/>
          </a:p>
        </p:txBody>
      </p:sp>
      <p:sp>
        <p:nvSpPr>
          <p:cNvPr id="6" name="Text 4"/>
          <p:cNvSpPr/>
          <p:nvPr/>
        </p:nvSpPr>
        <p:spPr>
          <a:xfrm>
            <a:off x="822960" y="2377440"/>
            <a:ext cx="3063240" cy="1051560"/>
          </a:xfrm>
          <a:prstGeom prst="rect">
            <a:avLst/>
          </a:prstGeom>
          <a:noFill/>
          <a:ln/>
        </p:spPr>
        <p:txBody>
          <a:bodyPr wrap="square" rtlCol="0" anchor="ctr"/>
          <a:lstStyle/>
          <a:p>
            <a:pPr marL="0" indent="0">
              <a:lnSpc>
                <a:spcPts val="1500"/>
              </a:lnSpc>
              <a:buNone/>
            </a:pPr>
            <a:r>
              <a:rPr lang="en-US" sz="1200" b="1" dirty="0">
                <a:latin typeface="Calibri" pitchFamily="34" charset="0"/>
                <a:ea typeface="Calibri" pitchFamily="34" charset="-122"/>
                <a:cs typeface="Calibri" pitchFamily="34" charset="-120"/>
              </a:rPr>
              <a:t>Gradient boosting with scale_pos_weight; early-stopped on PR-AUC.</a:t>
            </a:r>
            <a:endParaRPr lang="en-US" sz="1200" b="1" dirty="0"/>
          </a:p>
        </p:txBody>
      </p:sp>
      <p:sp>
        <p:nvSpPr>
          <p:cNvPr id="7" name="Shape 5"/>
          <p:cNvSpPr/>
          <p:nvPr/>
        </p:nvSpPr>
        <p:spPr>
          <a:xfrm>
            <a:off x="822960" y="3794760"/>
            <a:ext cx="3063240" cy="0"/>
          </a:xfrm>
          <a:prstGeom prst="line">
            <a:avLst/>
          </a:prstGeom>
          <a:noFill/>
          <a:ln w="12700">
            <a:solidFill>
              <a:srgbClr val="D9DEE7"/>
            </a:solidFill>
            <a:prstDash val="solid"/>
          </a:ln>
        </p:spPr>
        <p:txBody>
          <a:bodyPr/>
          <a:lstStyle/>
          <a:p>
            <a:endParaRPr lang="en-ZA"/>
          </a:p>
        </p:txBody>
      </p:sp>
      <p:sp>
        <p:nvSpPr>
          <p:cNvPr id="8" name="Text 6"/>
          <p:cNvSpPr/>
          <p:nvPr/>
        </p:nvSpPr>
        <p:spPr>
          <a:xfrm>
            <a:off x="822960" y="3913632"/>
            <a:ext cx="3063240" cy="274320"/>
          </a:xfrm>
          <a:prstGeom prst="rect">
            <a:avLst/>
          </a:prstGeom>
          <a:noFill/>
          <a:ln/>
        </p:spPr>
        <p:txBody>
          <a:bodyPr wrap="square" rtlCol="0" anchor="ctr"/>
          <a:lstStyle/>
          <a:p>
            <a:pPr marL="0" indent="0">
              <a:buNone/>
            </a:pPr>
            <a:r>
              <a:rPr lang="en-US" sz="950" b="1" kern="0" spc="100" dirty="0">
                <a:solidFill>
                  <a:srgbClr val="134074"/>
                </a:solidFill>
                <a:latin typeface="Calibri" pitchFamily="34" charset="0"/>
                <a:ea typeface="Calibri" pitchFamily="34" charset="-122"/>
                <a:cs typeface="Calibri" pitchFamily="34" charset="-120"/>
              </a:rPr>
              <a:t>HYPERPARAMETERS</a:t>
            </a:r>
            <a:endParaRPr lang="en-US" sz="950" dirty="0"/>
          </a:p>
        </p:txBody>
      </p:sp>
      <p:sp>
        <p:nvSpPr>
          <p:cNvPr id="9" name="Text 7"/>
          <p:cNvSpPr/>
          <p:nvPr/>
        </p:nvSpPr>
        <p:spPr>
          <a:xfrm>
            <a:off x="822960" y="4187952"/>
            <a:ext cx="3063240" cy="457200"/>
          </a:xfrm>
          <a:prstGeom prst="rect">
            <a:avLst/>
          </a:prstGeom>
          <a:noFill/>
          <a:ln/>
        </p:spPr>
        <p:txBody>
          <a:bodyPr wrap="square" rtlCol="0" anchor="ctr"/>
          <a:lstStyle/>
          <a:p>
            <a:pPr marL="0" indent="0">
              <a:lnSpc>
                <a:spcPts val="1300"/>
              </a:lnSpc>
              <a:buNone/>
            </a:pPr>
            <a:r>
              <a:rPr lang="en-US" sz="1400" dirty="0">
                <a:latin typeface="Calibri" pitchFamily="34" charset="0"/>
                <a:ea typeface="Calibri" pitchFamily="34" charset="-122"/>
                <a:cs typeface="Calibri" pitchFamily="34" charset="-120"/>
              </a:rPr>
              <a:t>max_depth=5 · lr=0.05 · min_child_weight=5</a:t>
            </a:r>
            <a:endParaRPr lang="en-US" sz="1400" dirty="0"/>
          </a:p>
        </p:txBody>
      </p:sp>
      <p:sp>
        <p:nvSpPr>
          <p:cNvPr id="10" name="Shape 8"/>
          <p:cNvSpPr/>
          <p:nvPr/>
        </p:nvSpPr>
        <p:spPr>
          <a:xfrm>
            <a:off x="4343400" y="1463040"/>
            <a:ext cx="3520440" cy="3246120"/>
          </a:xfrm>
          <a:prstGeom prst="roundRect">
            <a:avLst>
              <a:gd name="adj" fmla="val 2254"/>
            </a:avLst>
          </a:prstGeom>
          <a:solidFill>
            <a:srgbClr val="0B2545"/>
          </a:solidFill>
          <a:ln/>
          <a:effectLst>
            <a:outerShdw blurRad="101600" dist="38100" dir="5400000" algn="bl" rotWithShape="0">
              <a:srgbClr val="1B2430">
                <a:alpha val="18000"/>
              </a:srgbClr>
            </a:outerShdw>
          </a:effectLst>
        </p:spPr>
        <p:txBody>
          <a:bodyPr/>
          <a:lstStyle/>
          <a:p>
            <a:endParaRPr lang="en-ZA"/>
          </a:p>
        </p:txBody>
      </p:sp>
      <p:sp>
        <p:nvSpPr>
          <p:cNvPr id="11" name="Shape 9"/>
          <p:cNvSpPr/>
          <p:nvPr/>
        </p:nvSpPr>
        <p:spPr>
          <a:xfrm>
            <a:off x="4572000" y="1691640"/>
            <a:ext cx="1554480" cy="320040"/>
          </a:xfrm>
          <a:prstGeom prst="roundRect">
            <a:avLst>
              <a:gd name="adj" fmla="val 48571"/>
            </a:avLst>
          </a:prstGeom>
          <a:solidFill>
            <a:srgbClr val="F2A541"/>
          </a:solidFill>
          <a:ln/>
        </p:spPr>
        <p:txBody>
          <a:bodyPr/>
          <a:lstStyle/>
          <a:p>
            <a:endParaRPr lang="en-ZA"/>
          </a:p>
        </p:txBody>
      </p:sp>
      <p:sp>
        <p:nvSpPr>
          <p:cNvPr id="12" name="Text 10"/>
          <p:cNvSpPr/>
          <p:nvPr/>
        </p:nvSpPr>
        <p:spPr>
          <a:xfrm>
            <a:off x="4572000" y="1691640"/>
            <a:ext cx="1554480" cy="320040"/>
          </a:xfrm>
          <a:prstGeom prst="rect">
            <a:avLst/>
          </a:prstGeom>
          <a:noFill/>
          <a:ln/>
        </p:spPr>
        <p:txBody>
          <a:bodyPr wrap="square" rtlCol="0" anchor="ctr"/>
          <a:lstStyle/>
          <a:p>
            <a:pPr marL="0" indent="0" algn="ctr">
              <a:buNone/>
            </a:pPr>
            <a:r>
              <a:rPr lang="en-US" sz="1000" b="1" kern="0" spc="100" dirty="0">
                <a:solidFill>
                  <a:srgbClr val="0B2545"/>
                </a:solidFill>
                <a:latin typeface="Calibri" pitchFamily="34" charset="0"/>
                <a:ea typeface="Calibri" pitchFamily="34" charset="-122"/>
                <a:cs typeface="Calibri" pitchFamily="34" charset="-120"/>
              </a:rPr>
              <a:t>SELECTED</a:t>
            </a:r>
            <a:endParaRPr lang="en-US" sz="1000" dirty="0"/>
          </a:p>
        </p:txBody>
      </p:sp>
      <p:sp>
        <p:nvSpPr>
          <p:cNvPr id="13" name="Text 11"/>
          <p:cNvSpPr/>
          <p:nvPr/>
        </p:nvSpPr>
        <p:spPr>
          <a:xfrm>
            <a:off x="4572000" y="2121408"/>
            <a:ext cx="3063240" cy="5943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Balanced Random Forest</a:t>
            </a:r>
            <a:endParaRPr lang="en-US" sz="1800" dirty="0"/>
          </a:p>
        </p:txBody>
      </p:sp>
      <p:sp>
        <p:nvSpPr>
          <p:cNvPr id="14" name="Text 12"/>
          <p:cNvSpPr/>
          <p:nvPr/>
        </p:nvSpPr>
        <p:spPr>
          <a:xfrm>
            <a:off x="4572000" y="2743200"/>
            <a:ext cx="3063240" cy="10515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Every tree trained on a class-balanced bootstrap sample — imbalance handled structurally.</a:t>
            </a:r>
            <a:endParaRPr lang="en-US" sz="1150" dirty="0"/>
          </a:p>
        </p:txBody>
      </p:sp>
      <p:sp>
        <p:nvSpPr>
          <p:cNvPr id="15" name="Shape 13"/>
          <p:cNvSpPr/>
          <p:nvPr/>
        </p:nvSpPr>
        <p:spPr>
          <a:xfrm>
            <a:off x="4572000" y="3794760"/>
            <a:ext cx="3063240" cy="0"/>
          </a:xfrm>
          <a:prstGeom prst="line">
            <a:avLst/>
          </a:prstGeom>
          <a:noFill/>
          <a:ln w="12700">
            <a:solidFill>
              <a:srgbClr val="2B4E7A"/>
            </a:solidFill>
            <a:prstDash val="solid"/>
          </a:ln>
        </p:spPr>
        <p:txBody>
          <a:bodyPr/>
          <a:lstStyle/>
          <a:p>
            <a:endParaRPr lang="en-ZA"/>
          </a:p>
        </p:txBody>
      </p:sp>
      <p:sp>
        <p:nvSpPr>
          <p:cNvPr id="16" name="Text 14"/>
          <p:cNvSpPr/>
          <p:nvPr/>
        </p:nvSpPr>
        <p:spPr>
          <a:xfrm>
            <a:off x="4572000" y="3913632"/>
            <a:ext cx="3063240" cy="274320"/>
          </a:xfrm>
          <a:prstGeom prst="rect">
            <a:avLst/>
          </a:prstGeom>
          <a:noFill/>
          <a:ln/>
        </p:spPr>
        <p:txBody>
          <a:bodyPr wrap="square" rtlCol="0" anchor="ctr"/>
          <a:lstStyle/>
          <a:p>
            <a:pPr marL="0" indent="0">
              <a:buNone/>
            </a:pPr>
            <a:r>
              <a:rPr lang="en-US" sz="950" b="1" kern="0" spc="100" dirty="0">
                <a:solidFill>
                  <a:srgbClr val="F2A541"/>
                </a:solidFill>
                <a:latin typeface="Calibri" pitchFamily="34" charset="0"/>
                <a:ea typeface="Calibri" pitchFamily="34" charset="-122"/>
                <a:cs typeface="Calibri" pitchFamily="34" charset="-120"/>
              </a:rPr>
              <a:t>HYPERPARAMETERS</a:t>
            </a:r>
            <a:endParaRPr lang="en-US" sz="950" dirty="0"/>
          </a:p>
        </p:txBody>
      </p:sp>
      <p:sp>
        <p:nvSpPr>
          <p:cNvPr id="17" name="Text 15"/>
          <p:cNvSpPr/>
          <p:nvPr/>
        </p:nvSpPr>
        <p:spPr>
          <a:xfrm>
            <a:off x="4572000" y="4187952"/>
            <a:ext cx="3063240" cy="457200"/>
          </a:xfrm>
          <a:prstGeom prst="rect">
            <a:avLst/>
          </a:prstGeom>
          <a:noFill/>
          <a:ln/>
        </p:spPr>
        <p:txBody>
          <a:bodyPr wrap="square" rtlCol="0" anchor="ctr"/>
          <a:lstStyle/>
          <a:p>
            <a:pPr marL="0" indent="0">
              <a:lnSpc>
                <a:spcPts val="1300"/>
              </a:lnSpc>
              <a:buNone/>
            </a:pPr>
            <a:r>
              <a:rPr lang="en-US" sz="1050" dirty="0">
                <a:solidFill>
                  <a:srgbClr val="CADCFC"/>
                </a:solidFill>
                <a:latin typeface="Calibri" pitchFamily="34" charset="0"/>
                <a:ea typeface="Calibri" pitchFamily="34" charset="-122"/>
                <a:cs typeface="Calibri" pitchFamily="34" charset="-120"/>
              </a:rPr>
              <a:t>500 trees · min_samples_leaf=2 · max_features='sqrt'</a:t>
            </a:r>
            <a:endParaRPr lang="en-US" sz="1050" dirty="0"/>
          </a:p>
        </p:txBody>
      </p:sp>
      <p:sp>
        <p:nvSpPr>
          <p:cNvPr id="18" name="Shape 16"/>
          <p:cNvSpPr/>
          <p:nvPr/>
        </p:nvSpPr>
        <p:spPr>
          <a:xfrm>
            <a:off x="7985455" y="1463040"/>
            <a:ext cx="3520440" cy="3246120"/>
          </a:xfrm>
          <a:prstGeom prst="roundRect">
            <a:avLst>
              <a:gd name="adj" fmla="val 2254"/>
            </a:avLst>
          </a:prstGeom>
          <a:solidFill>
            <a:srgbClr val="F5F7FA"/>
          </a:solidFill>
          <a:ln/>
        </p:spPr>
        <p:txBody>
          <a:bodyPr/>
          <a:lstStyle/>
          <a:p>
            <a:endParaRPr lang="en-ZA"/>
          </a:p>
        </p:txBody>
      </p:sp>
      <p:sp>
        <p:nvSpPr>
          <p:cNvPr id="19" name="Text 17"/>
          <p:cNvSpPr/>
          <p:nvPr/>
        </p:nvSpPr>
        <p:spPr>
          <a:xfrm>
            <a:off x="8321040" y="1737360"/>
            <a:ext cx="3063240" cy="594360"/>
          </a:xfrm>
          <a:prstGeom prst="rect">
            <a:avLst/>
          </a:prstGeom>
          <a:noFill/>
          <a:ln/>
        </p:spPr>
        <p:txBody>
          <a:bodyPr wrap="square" rtlCol="0" anchor="ctr"/>
          <a:lstStyle/>
          <a:p>
            <a:pPr marL="0" indent="0">
              <a:buNone/>
            </a:pPr>
            <a:r>
              <a:rPr lang="en-US" sz="1800" b="1" dirty="0">
                <a:solidFill>
                  <a:srgbClr val="0B2545"/>
                </a:solidFill>
                <a:latin typeface="Cambria" pitchFamily="34" charset="0"/>
                <a:ea typeface="Cambria" pitchFamily="34" charset="-122"/>
                <a:cs typeface="Cambria" pitchFamily="34" charset="-120"/>
              </a:rPr>
              <a:t>CatBoost</a:t>
            </a:r>
            <a:endParaRPr lang="en-US" sz="1800" dirty="0"/>
          </a:p>
        </p:txBody>
      </p:sp>
      <p:sp>
        <p:nvSpPr>
          <p:cNvPr id="20" name="Text 18"/>
          <p:cNvSpPr/>
          <p:nvPr/>
        </p:nvSpPr>
        <p:spPr>
          <a:xfrm>
            <a:off x="8321040" y="2377440"/>
            <a:ext cx="3063240" cy="1051560"/>
          </a:xfrm>
          <a:prstGeom prst="rect">
            <a:avLst/>
          </a:prstGeom>
          <a:noFill/>
          <a:ln/>
        </p:spPr>
        <p:txBody>
          <a:bodyPr wrap="square" rtlCol="0" anchor="ctr"/>
          <a:lstStyle/>
          <a:p>
            <a:pPr marL="0" indent="0">
              <a:lnSpc>
                <a:spcPts val="1500"/>
              </a:lnSpc>
              <a:buNone/>
            </a:pPr>
            <a:r>
              <a:rPr lang="en-US" sz="1200" b="1" dirty="0">
                <a:solidFill>
                  <a:srgbClr val="1B2430"/>
                </a:solidFill>
                <a:latin typeface="Calibri" pitchFamily="34" charset="0"/>
                <a:ea typeface="Calibri" pitchFamily="34" charset="-122"/>
                <a:cs typeface="Calibri" pitchFamily="34" charset="-120"/>
              </a:rPr>
              <a:t>Ordered boosting, eval_metric='F1' optimised directly; early-stopped after 200 rounds.</a:t>
            </a:r>
            <a:endParaRPr lang="en-US" sz="1200" b="1" dirty="0"/>
          </a:p>
        </p:txBody>
      </p:sp>
      <p:sp>
        <p:nvSpPr>
          <p:cNvPr id="21" name="Shape 19"/>
          <p:cNvSpPr/>
          <p:nvPr/>
        </p:nvSpPr>
        <p:spPr>
          <a:xfrm>
            <a:off x="8321040" y="3794760"/>
            <a:ext cx="3063240" cy="0"/>
          </a:xfrm>
          <a:prstGeom prst="line">
            <a:avLst/>
          </a:prstGeom>
          <a:noFill/>
          <a:ln w="12700">
            <a:solidFill>
              <a:srgbClr val="D9DEE7"/>
            </a:solidFill>
            <a:prstDash val="solid"/>
          </a:ln>
        </p:spPr>
        <p:txBody>
          <a:bodyPr/>
          <a:lstStyle/>
          <a:p>
            <a:endParaRPr lang="en-ZA"/>
          </a:p>
        </p:txBody>
      </p:sp>
      <p:sp>
        <p:nvSpPr>
          <p:cNvPr id="22" name="Text 20"/>
          <p:cNvSpPr/>
          <p:nvPr/>
        </p:nvSpPr>
        <p:spPr>
          <a:xfrm>
            <a:off x="8321040" y="3913632"/>
            <a:ext cx="3063240" cy="274320"/>
          </a:xfrm>
          <a:prstGeom prst="rect">
            <a:avLst/>
          </a:prstGeom>
          <a:noFill/>
          <a:ln/>
        </p:spPr>
        <p:txBody>
          <a:bodyPr wrap="square" rtlCol="0" anchor="ctr"/>
          <a:lstStyle/>
          <a:p>
            <a:pPr marL="0" indent="0">
              <a:buNone/>
            </a:pPr>
            <a:r>
              <a:rPr lang="en-US" sz="950" b="1" kern="0" spc="100" dirty="0">
                <a:solidFill>
                  <a:srgbClr val="6B4C9A"/>
                </a:solidFill>
                <a:latin typeface="Calibri" pitchFamily="34" charset="0"/>
                <a:ea typeface="Calibri" pitchFamily="34" charset="-122"/>
                <a:cs typeface="Calibri" pitchFamily="34" charset="-120"/>
              </a:rPr>
              <a:t>HYPERPARAMETERS</a:t>
            </a:r>
            <a:endParaRPr lang="en-US" sz="950" dirty="0"/>
          </a:p>
        </p:txBody>
      </p:sp>
      <p:sp>
        <p:nvSpPr>
          <p:cNvPr id="23" name="Text 21"/>
          <p:cNvSpPr/>
          <p:nvPr/>
        </p:nvSpPr>
        <p:spPr>
          <a:xfrm>
            <a:off x="8321040" y="4187952"/>
            <a:ext cx="3063240" cy="457200"/>
          </a:xfrm>
          <a:prstGeom prst="rect">
            <a:avLst/>
          </a:prstGeom>
          <a:noFill/>
          <a:ln/>
        </p:spPr>
        <p:txBody>
          <a:bodyPr wrap="square" rtlCol="0" anchor="ctr"/>
          <a:lstStyle/>
          <a:p>
            <a:pPr marL="0" indent="0">
              <a:lnSpc>
                <a:spcPts val="1300"/>
              </a:lnSpc>
              <a:buNone/>
            </a:pPr>
            <a:r>
              <a:rPr lang="en-US" sz="1600" dirty="0">
                <a:latin typeface="Calibri" pitchFamily="34" charset="0"/>
                <a:ea typeface="Calibri" pitchFamily="34" charset="-122"/>
                <a:cs typeface="Calibri" pitchFamily="34" charset="-120"/>
              </a:rPr>
              <a:t>depth=6 · lr=0.05 · scale_pos_weight</a:t>
            </a:r>
            <a:endParaRPr lang="en-US" sz="1600" dirty="0"/>
          </a:p>
        </p:txBody>
      </p:sp>
      <p:sp>
        <p:nvSpPr>
          <p:cNvPr id="24" name="Text 22"/>
          <p:cNvSpPr/>
          <p:nvPr/>
        </p:nvSpPr>
        <p:spPr>
          <a:xfrm>
            <a:off x="594360" y="4892040"/>
            <a:ext cx="10972800" cy="457200"/>
          </a:xfrm>
          <a:prstGeom prst="rect">
            <a:avLst/>
          </a:prstGeom>
          <a:noFill/>
          <a:ln/>
        </p:spPr>
        <p:txBody>
          <a:bodyPr wrap="square" rtlCol="0" anchor="ctr"/>
          <a:lstStyle/>
          <a:p>
            <a:pPr marL="0" indent="0">
              <a:buNone/>
            </a:pPr>
            <a:r>
              <a:rPr lang="en-US" sz="1600" i="1" dirty="0">
                <a:latin typeface="Calibri" pitchFamily="34" charset="0"/>
                <a:ea typeface="Calibri" pitchFamily="34" charset="-122"/>
                <a:cs typeface="Calibri" pitchFamily="34" charset="-120"/>
              </a:rPr>
              <a:t>All three share the same 32-feature set, the same building-grouped split, and the same F1-optimised threshold-tuning procedure — differences in results reflect the algorithms alone.</a:t>
            </a:r>
            <a:endParaRPr lang="en-US" sz="1600" dirty="0"/>
          </a:p>
        </p:txBody>
      </p:sp>
      <p:sp>
        <p:nvSpPr>
          <p:cNvPr id="26" name="Text 24"/>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Evaluation: Balanced Random Forest wins</a:t>
            </a:r>
            <a:endParaRPr lang="en-US" sz="3000" dirty="0"/>
          </a:p>
        </p:txBody>
      </p:sp>
      <p:graphicFrame>
        <p:nvGraphicFramePr>
          <p:cNvPr id="4" name="Chart 0"/>
          <p:cNvGraphicFramePr/>
          <p:nvPr/>
        </p:nvGraphicFramePr>
        <p:xfrm>
          <a:off x="502920" y="141732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17320"/>
            <a:ext cx="3931920" cy="4160520"/>
          </a:xfrm>
          <a:prstGeom prst="roundRect">
            <a:avLst>
              <a:gd name="adj" fmla="val 1860"/>
            </a:avLst>
          </a:prstGeom>
          <a:solidFill>
            <a:srgbClr val="0B2545"/>
          </a:solidFill>
          <a:ln/>
        </p:spPr>
        <p:txBody>
          <a:bodyPr/>
          <a:lstStyle/>
          <a:p>
            <a:endParaRPr lang="en-ZA"/>
          </a:p>
        </p:txBody>
      </p:sp>
      <p:sp>
        <p:nvSpPr>
          <p:cNvPr id="6" name="Text 3"/>
          <p:cNvSpPr/>
          <p:nvPr/>
        </p:nvSpPr>
        <p:spPr>
          <a:xfrm>
            <a:off x="7909560" y="1645920"/>
            <a:ext cx="3474720" cy="274320"/>
          </a:xfrm>
          <a:prstGeom prst="rect">
            <a:avLst/>
          </a:prstGeom>
          <a:noFill/>
          <a:ln/>
        </p:spPr>
        <p:txBody>
          <a:bodyPr wrap="square"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WHY NOT ROC-AUC?</a:t>
            </a:r>
            <a:endParaRPr lang="en-US" sz="1100" dirty="0"/>
          </a:p>
        </p:txBody>
      </p:sp>
      <p:sp>
        <p:nvSpPr>
          <p:cNvPr id="7" name="Text 4"/>
          <p:cNvSpPr/>
          <p:nvPr/>
        </p:nvSpPr>
        <p:spPr>
          <a:xfrm>
            <a:off x="7909560" y="1965960"/>
            <a:ext cx="3474720" cy="118872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CatBoost scores highest on ROC-AUC (0.942) while </a:t>
            </a:r>
            <a:r>
              <a:rPr lang="en-US" sz="1600" dirty="0" err="1">
                <a:solidFill>
                  <a:srgbClr val="CADCFC"/>
                </a:solidFill>
                <a:latin typeface="Calibri" pitchFamily="34" charset="0"/>
                <a:ea typeface="Calibri" pitchFamily="34" charset="-122"/>
                <a:cs typeface="Calibri" pitchFamily="34" charset="-120"/>
              </a:rPr>
              <a:t>RandomForest</a:t>
            </a:r>
            <a:r>
              <a:rPr lang="en-US" sz="1600" dirty="0">
                <a:solidFill>
                  <a:srgbClr val="CADCFC"/>
                </a:solidFill>
                <a:latin typeface="Calibri" pitchFamily="34" charset="0"/>
                <a:ea typeface="Calibri" pitchFamily="34" charset="-122"/>
                <a:cs typeface="Calibri" pitchFamily="34" charset="-120"/>
              </a:rPr>
              <a:t> is (0.9369), but this is inflated by the huge true-negative pool under 2% prevalence. Its recall (0.522) shows it misses almost half of all real anomalies.</a:t>
            </a:r>
            <a:endParaRPr lang="en-US" sz="1600" dirty="0"/>
          </a:p>
        </p:txBody>
      </p:sp>
      <p:sp>
        <p:nvSpPr>
          <p:cNvPr id="8" name="Shape 5"/>
          <p:cNvSpPr/>
          <p:nvPr/>
        </p:nvSpPr>
        <p:spPr>
          <a:xfrm>
            <a:off x="7909560" y="3246120"/>
            <a:ext cx="3474720" cy="0"/>
          </a:xfrm>
          <a:prstGeom prst="line">
            <a:avLst/>
          </a:prstGeom>
          <a:noFill/>
          <a:ln w="12700">
            <a:solidFill>
              <a:srgbClr val="2B4E7A"/>
            </a:solidFill>
            <a:prstDash val="solid"/>
          </a:ln>
        </p:spPr>
        <p:txBody>
          <a:bodyPr/>
          <a:lstStyle/>
          <a:p>
            <a:endParaRPr lang="en-ZA"/>
          </a:p>
        </p:txBody>
      </p:sp>
      <p:sp>
        <p:nvSpPr>
          <p:cNvPr id="9" name="Text 6"/>
          <p:cNvSpPr/>
          <p:nvPr/>
        </p:nvSpPr>
        <p:spPr>
          <a:xfrm>
            <a:off x="7909560" y="3383280"/>
            <a:ext cx="3474720" cy="274320"/>
          </a:xfrm>
          <a:prstGeom prst="rect">
            <a:avLst/>
          </a:prstGeom>
          <a:noFill/>
          <a:ln/>
        </p:spPr>
        <p:txBody>
          <a:bodyPr wrap="square" rtlCol="0" anchor="ctr"/>
          <a:lstStyle/>
          <a:p>
            <a:pPr marL="0" indent="0">
              <a:buNone/>
            </a:pPr>
            <a:r>
              <a:rPr lang="en-US" sz="1100" b="1" kern="0" spc="100" dirty="0">
                <a:solidFill>
                  <a:srgbClr val="F2A541"/>
                </a:solidFill>
                <a:latin typeface="Calibri" pitchFamily="34" charset="0"/>
                <a:ea typeface="Calibri" pitchFamily="34" charset="-122"/>
                <a:cs typeface="Calibri" pitchFamily="34" charset="-120"/>
              </a:rPr>
              <a:t>SELECTED MODEL</a:t>
            </a:r>
            <a:endParaRPr lang="en-US" sz="1100" dirty="0"/>
          </a:p>
        </p:txBody>
      </p:sp>
      <p:sp>
        <p:nvSpPr>
          <p:cNvPr id="10" name="Text 7"/>
          <p:cNvSpPr/>
          <p:nvPr/>
        </p:nvSpPr>
        <p:spPr>
          <a:xfrm>
            <a:off x="7909560" y="3657600"/>
            <a:ext cx="347472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Balanced Random Forest</a:t>
            </a:r>
            <a:endParaRPr lang="en-US" sz="1700" dirty="0"/>
          </a:p>
        </p:txBody>
      </p:sp>
      <p:sp>
        <p:nvSpPr>
          <p:cNvPr id="11" name="Text 8"/>
          <p:cNvSpPr/>
          <p:nvPr/>
        </p:nvSpPr>
        <p:spPr>
          <a:xfrm>
            <a:off x="7909560" y="4069080"/>
            <a:ext cx="3474720" cy="1371600"/>
          </a:xfrm>
          <a:prstGeom prst="rect">
            <a:avLst/>
          </a:prstGeom>
          <a:noFill/>
          <a:ln/>
        </p:spPr>
        <p:txBody>
          <a:bodyPr wrap="square" rtlCol="0" anchor="ctr"/>
          <a:lstStyle/>
          <a:p>
            <a:pPr marL="0" indent="0">
              <a:lnSpc>
                <a:spcPts val="1800"/>
              </a:lnSpc>
              <a:buNone/>
            </a:pPr>
            <a:r>
              <a:rPr lang="en-US" sz="1600" dirty="0">
                <a:solidFill>
                  <a:srgbClr val="CADCFC"/>
                </a:solidFill>
                <a:latin typeface="Calibri" pitchFamily="34" charset="0"/>
                <a:ea typeface="Calibri" pitchFamily="34" charset="-122"/>
                <a:cs typeface="Calibri" pitchFamily="34" charset="-120"/>
              </a:rPr>
              <a:t>PR-AUC 0.824 · F1 0.830</a:t>
            </a:r>
            <a:endParaRPr lang="en-US" sz="1600" dirty="0"/>
          </a:p>
          <a:p>
            <a:pPr marL="0" indent="0">
              <a:lnSpc>
                <a:spcPts val="1800"/>
              </a:lnSpc>
              <a:buNone/>
            </a:pPr>
            <a:r>
              <a:rPr lang="en-US" sz="1600" dirty="0">
                <a:solidFill>
                  <a:srgbClr val="CADCFC"/>
                </a:solidFill>
                <a:latin typeface="Calibri" pitchFamily="34" charset="0"/>
                <a:ea typeface="Calibri" pitchFamily="34" charset="-122"/>
                <a:cs typeface="Calibri" pitchFamily="34" charset="-120"/>
              </a:rPr>
              <a:t>Precision 0.969 · Recall 0.727</a:t>
            </a:r>
            <a:endParaRPr lang="en-US" sz="1600" dirty="0"/>
          </a:p>
          <a:p>
            <a:pPr marL="0" indent="0">
              <a:lnSpc>
                <a:spcPts val="1800"/>
              </a:lnSpc>
              <a:buNone/>
            </a:pPr>
            <a:r>
              <a:rPr lang="en-US" sz="1600" dirty="0">
                <a:solidFill>
                  <a:srgbClr val="CADCFC"/>
                </a:solidFill>
                <a:latin typeface="Calibri" pitchFamily="34" charset="0"/>
                <a:ea typeface="Calibri" pitchFamily="34" charset="-122"/>
                <a:cs typeface="Calibri" pitchFamily="34" charset="-120"/>
              </a:rPr>
              <a:t>Threshold 0.947 (F1-optimised)</a:t>
            </a:r>
            <a:endParaRPr lang="en-US" sz="1600" dirty="0"/>
          </a:p>
        </p:txBody>
      </p:sp>
      <p:sp>
        <p:nvSpPr>
          <p:cNvPr id="13" name="Text 1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Final Predictions: Scoring unseen readings</a:t>
            </a:r>
            <a:endParaRPr lang="en-US" sz="3000" dirty="0"/>
          </a:p>
        </p:txBody>
      </p:sp>
      <p:graphicFrame>
        <p:nvGraphicFramePr>
          <p:cNvPr id="4" name="Chart 0"/>
          <p:cNvGraphicFramePr/>
          <p:nvPr>
            <p:extLst>
              <p:ext uri="{D42A27DB-BD31-4B8C-83A1-F6EECF244321}">
                <p14:modId xmlns:p14="http://schemas.microsoft.com/office/powerpoint/2010/main" val="1462354504"/>
              </p:ext>
            </p:extLst>
          </p:nvPr>
        </p:nvGraphicFramePr>
        <p:xfrm>
          <a:off x="594360" y="1417320"/>
          <a:ext cx="42976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166360" y="1417320"/>
            <a:ext cx="6309360" cy="1737360"/>
          </a:xfrm>
          <a:prstGeom prst="roundRect">
            <a:avLst>
              <a:gd name="adj" fmla="val 4211"/>
            </a:avLst>
          </a:prstGeom>
          <a:solidFill>
            <a:srgbClr val="F5F7FA"/>
          </a:solidFill>
          <a:ln/>
          <a:effectLst>
            <a:outerShdw blurRad="101600" dist="38100" dir="5400000" algn="bl" rotWithShape="0">
              <a:srgbClr val="1B2430">
                <a:alpha val="18000"/>
              </a:srgbClr>
            </a:outerShdw>
          </a:effectLst>
        </p:spPr>
        <p:txBody>
          <a:bodyPr/>
          <a:lstStyle/>
          <a:p>
            <a:endParaRPr lang="en-ZA"/>
          </a:p>
        </p:txBody>
      </p:sp>
      <p:sp>
        <p:nvSpPr>
          <p:cNvPr id="6" name="Text 3"/>
          <p:cNvSpPr/>
          <p:nvPr/>
        </p:nvSpPr>
        <p:spPr>
          <a:xfrm>
            <a:off x="5440680" y="1627632"/>
            <a:ext cx="2743200" cy="548640"/>
          </a:xfrm>
          <a:prstGeom prst="rect">
            <a:avLst/>
          </a:prstGeom>
          <a:noFill/>
          <a:ln/>
        </p:spPr>
        <p:txBody>
          <a:bodyPr wrap="square" rtlCol="0" anchor="ctr"/>
          <a:lstStyle/>
          <a:p>
            <a:pPr marL="0" indent="0">
              <a:buNone/>
            </a:pPr>
            <a:r>
              <a:rPr lang="en-US" sz="3000" b="1" dirty="0">
                <a:solidFill>
                  <a:srgbClr val="F2A541"/>
                </a:solidFill>
                <a:latin typeface="Cambria" pitchFamily="34" charset="0"/>
                <a:ea typeface="Cambria" pitchFamily="34" charset="-122"/>
                <a:cs typeface="Cambria" pitchFamily="34" charset="-120"/>
              </a:rPr>
              <a:t>19,006</a:t>
            </a:r>
            <a:endParaRPr lang="en-US" sz="3000" dirty="0"/>
          </a:p>
        </p:txBody>
      </p:sp>
      <p:sp>
        <p:nvSpPr>
          <p:cNvPr id="7" name="Text 4"/>
          <p:cNvSpPr/>
          <p:nvPr/>
        </p:nvSpPr>
        <p:spPr>
          <a:xfrm>
            <a:off x="5440680" y="2194560"/>
            <a:ext cx="2743200" cy="640080"/>
          </a:xfrm>
          <a:prstGeom prst="rect">
            <a:avLst/>
          </a:prstGeom>
          <a:noFill/>
          <a:ln/>
        </p:spPr>
        <p:txBody>
          <a:bodyPr wrap="square" rtlCol="0" anchor="ctr"/>
          <a:lstStyle/>
          <a:p>
            <a:pPr marL="0" indent="0">
              <a:lnSpc>
                <a:spcPts val="1400"/>
              </a:lnSpc>
              <a:buNone/>
            </a:pPr>
            <a:r>
              <a:rPr lang="en-US" sz="1150" dirty="0">
                <a:solidFill>
                  <a:srgbClr val="6B7280"/>
                </a:solidFill>
                <a:latin typeface="Calibri" pitchFamily="34" charset="0"/>
                <a:ea typeface="Calibri" pitchFamily="34" charset="-122"/>
                <a:cs typeface="Calibri" pitchFamily="34" charset="-120"/>
              </a:rPr>
              <a:t>readings flagged</a:t>
            </a:r>
            <a:endParaRPr lang="en-US" sz="1150" dirty="0"/>
          </a:p>
          <a:p>
            <a:pPr marL="0" indent="0">
              <a:lnSpc>
                <a:spcPts val="1400"/>
              </a:lnSpc>
              <a:buNone/>
            </a:pPr>
            <a:r>
              <a:rPr lang="en-US" sz="1150" dirty="0">
                <a:solidFill>
                  <a:srgbClr val="6B7280"/>
                </a:solidFill>
                <a:latin typeface="Calibri" pitchFamily="34" charset="0"/>
                <a:ea typeface="Calibri" pitchFamily="34" charset="-122"/>
                <a:cs typeface="Calibri" pitchFamily="34" charset="-120"/>
              </a:rPr>
              <a:t>as anomalous</a:t>
            </a:r>
            <a:endParaRPr lang="en-US" sz="1150" dirty="0"/>
          </a:p>
        </p:txBody>
      </p:sp>
      <p:sp>
        <p:nvSpPr>
          <p:cNvPr id="8" name="Shape 5"/>
          <p:cNvSpPr/>
          <p:nvPr/>
        </p:nvSpPr>
        <p:spPr>
          <a:xfrm>
            <a:off x="8092440" y="1645920"/>
            <a:ext cx="0" cy="1280160"/>
          </a:xfrm>
          <a:prstGeom prst="line">
            <a:avLst/>
          </a:prstGeom>
          <a:noFill/>
          <a:ln w="12700">
            <a:solidFill>
              <a:srgbClr val="D9DEE7"/>
            </a:solidFill>
            <a:prstDash val="solid"/>
          </a:ln>
        </p:spPr>
        <p:txBody>
          <a:bodyPr/>
          <a:lstStyle/>
          <a:p>
            <a:endParaRPr lang="en-ZA"/>
          </a:p>
        </p:txBody>
      </p:sp>
      <p:sp>
        <p:nvSpPr>
          <p:cNvPr id="9" name="Text 6"/>
          <p:cNvSpPr/>
          <p:nvPr/>
        </p:nvSpPr>
        <p:spPr>
          <a:xfrm>
            <a:off x="8321040" y="1627632"/>
            <a:ext cx="2926080" cy="548640"/>
          </a:xfrm>
          <a:prstGeom prst="rect">
            <a:avLst/>
          </a:prstGeom>
          <a:noFill/>
          <a:ln/>
        </p:spPr>
        <p:txBody>
          <a:bodyPr wrap="square" rtlCol="0" anchor="ctr"/>
          <a:lstStyle/>
          <a:p>
            <a:pPr marL="0" indent="0">
              <a:buNone/>
            </a:pPr>
            <a:r>
              <a:rPr lang="en-US" sz="3000" b="1" dirty="0">
                <a:solidFill>
                  <a:srgbClr val="134074"/>
                </a:solidFill>
                <a:latin typeface="Cambria" pitchFamily="34" charset="0"/>
                <a:ea typeface="Cambria" pitchFamily="34" charset="-122"/>
                <a:cs typeface="Cambria" pitchFamily="34" charset="-120"/>
              </a:rPr>
              <a:t>1,781,561</a:t>
            </a:r>
            <a:endParaRPr lang="en-US" sz="3000" dirty="0"/>
          </a:p>
        </p:txBody>
      </p:sp>
      <p:sp>
        <p:nvSpPr>
          <p:cNvPr id="10" name="Text 7"/>
          <p:cNvSpPr/>
          <p:nvPr/>
        </p:nvSpPr>
        <p:spPr>
          <a:xfrm>
            <a:off x="8321040" y="2194560"/>
            <a:ext cx="2926080" cy="640080"/>
          </a:xfrm>
          <a:prstGeom prst="rect">
            <a:avLst/>
          </a:prstGeom>
          <a:noFill/>
          <a:ln/>
        </p:spPr>
        <p:txBody>
          <a:bodyPr wrap="square" rtlCol="0" anchor="ctr"/>
          <a:lstStyle/>
          <a:p>
            <a:pPr marL="0" indent="0">
              <a:lnSpc>
                <a:spcPts val="1400"/>
              </a:lnSpc>
              <a:buNone/>
            </a:pPr>
            <a:r>
              <a:rPr lang="en-US" sz="1150" dirty="0">
                <a:solidFill>
                  <a:srgbClr val="6B7280"/>
                </a:solidFill>
                <a:latin typeface="Calibri" pitchFamily="34" charset="0"/>
                <a:ea typeface="Calibri" pitchFamily="34" charset="-122"/>
                <a:cs typeface="Calibri" pitchFamily="34" charset="-120"/>
              </a:rPr>
              <a:t>readings scored</a:t>
            </a:r>
            <a:endParaRPr lang="en-US" sz="1150" dirty="0"/>
          </a:p>
          <a:p>
            <a:pPr marL="0" indent="0">
              <a:lnSpc>
                <a:spcPts val="1400"/>
              </a:lnSpc>
              <a:buNone/>
            </a:pPr>
            <a:r>
              <a:rPr lang="en-US" sz="1150" dirty="0">
                <a:solidFill>
                  <a:srgbClr val="6B7280"/>
                </a:solidFill>
                <a:latin typeface="Calibri" pitchFamily="34" charset="0"/>
                <a:ea typeface="Calibri" pitchFamily="34" charset="-122"/>
                <a:cs typeface="Calibri" pitchFamily="34" charset="-120"/>
              </a:rPr>
              <a:t>as normal</a:t>
            </a:r>
            <a:endParaRPr lang="en-US" sz="1150" dirty="0"/>
          </a:p>
        </p:txBody>
      </p:sp>
      <p:sp>
        <p:nvSpPr>
          <p:cNvPr id="11" name="Text 8"/>
          <p:cNvSpPr/>
          <p:nvPr/>
        </p:nvSpPr>
        <p:spPr>
          <a:xfrm>
            <a:off x="5166360" y="3429000"/>
            <a:ext cx="6309360" cy="1371600"/>
          </a:xfrm>
          <a:prstGeom prst="rect">
            <a:avLst/>
          </a:prstGeom>
          <a:noFill/>
          <a:ln/>
        </p:spPr>
        <p:txBody>
          <a:bodyPr wrap="square" rtlCol="0" anchor="ctr"/>
          <a:lstStyle/>
          <a:p>
            <a:pPr marL="0" indent="0" algn="just">
              <a:lnSpc>
                <a:spcPts val="1900"/>
              </a:lnSpc>
              <a:buNone/>
            </a:pPr>
            <a:r>
              <a:rPr lang="en-US" sz="1600" dirty="0">
                <a:solidFill>
                  <a:srgbClr val="1B2430"/>
                </a:solidFill>
                <a:latin typeface="Calibri" pitchFamily="34" charset="0"/>
                <a:ea typeface="Calibri" pitchFamily="34" charset="-122"/>
                <a:cs typeface="Calibri" pitchFamily="34" charset="-120"/>
              </a:rPr>
              <a:t>The predicted test-set anomaly rate (1.06%) is lower than the labelled training rate (2.13%) — consistent with the model's high precision (it flags a reading only when the evidence is strong), though it may also partly reflect a genuine prevalence difference in the new building sample.</a:t>
            </a:r>
            <a:endParaRPr lang="en-US" sz="1600" dirty="0"/>
          </a:p>
        </p:txBody>
      </p:sp>
      <p:sp>
        <p:nvSpPr>
          <p:cNvPr id="12" name="Shape 9"/>
          <p:cNvSpPr/>
          <p:nvPr/>
        </p:nvSpPr>
        <p:spPr>
          <a:xfrm>
            <a:off x="5166360" y="4937760"/>
            <a:ext cx="6309360" cy="868680"/>
          </a:xfrm>
          <a:prstGeom prst="roundRect">
            <a:avLst>
              <a:gd name="adj" fmla="val 8421"/>
            </a:avLst>
          </a:prstGeom>
          <a:solidFill>
            <a:srgbClr val="0B2545"/>
          </a:solidFill>
          <a:ln/>
        </p:spPr>
        <p:txBody>
          <a:bodyPr/>
          <a:lstStyle/>
          <a:p>
            <a:endParaRPr lang="en-ZA"/>
          </a:p>
        </p:txBody>
      </p:sp>
      <p:sp>
        <p:nvSpPr>
          <p:cNvPr id="13" name="Text 10"/>
          <p:cNvSpPr/>
          <p:nvPr/>
        </p:nvSpPr>
        <p:spPr>
          <a:xfrm>
            <a:off x="5440680" y="4937760"/>
            <a:ext cx="5760720" cy="8686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Output: row_id, anomaly — in the exact sample_submission.csv format</a:t>
            </a:r>
            <a:endParaRPr lang="en-US" sz="1400" dirty="0"/>
          </a:p>
        </p:txBody>
      </p:sp>
      <p:sp>
        <p:nvSpPr>
          <p:cNvPr id="15" name="Text 12"/>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66928" y="164592"/>
            <a:ext cx="11094415" cy="274320"/>
          </a:xfrm>
          <a:prstGeom prst="rect">
            <a:avLst/>
          </a:prstGeom>
          <a:noFill/>
          <a:ln/>
        </p:spPr>
        <p:txBody>
          <a:bodyPr wrap="square" rtlCol="0" anchor="ctr"/>
          <a:lstStyle/>
          <a:p>
            <a:pPr marL="0" indent="0" algn="l">
              <a:buNone/>
            </a:pPr>
            <a:r>
              <a:rPr lang="en-US" sz="1200" b="1" kern="0" spc="200" dirty="0">
                <a:solidFill>
                  <a:schemeClr val="accent2"/>
                </a:solidFill>
                <a:latin typeface="Calibri" pitchFamily="34" charset="0"/>
                <a:ea typeface="Calibri" pitchFamily="34" charset="-122"/>
                <a:cs typeface="Calibri" pitchFamily="34" charset="-120"/>
              </a:rPr>
              <a:t>POINT ANOMALIES</a:t>
            </a:r>
            <a:endParaRPr lang="en-US" sz="1200" dirty="0">
              <a:solidFill>
                <a:schemeClr val="accent2"/>
              </a:solidFill>
            </a:endParaRPr>
          </a:p>
        </p:txBody>
      </p:sp>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0B2545"/>
                </a:solidFill>
                <a:latin typeface="Cambria" pitchFamily="34" charset="0"/>
                <a:ea typeface="Cambria" pitchFamily="34" charset="-122"/>
                <a:cs typeface="Cambria" pitchFamily="34" charset="-120"/>
              </a:rPr>
              <a:t>Ten flagged readings</a:t>
            </a:r>
            <a:endParaRPr lang="en-US" sz="3000" dirty="0"/>
          </a:p>
        </p:txBody>
      </p:sp>
      <p:graphicFrame>
        <p:nvGraphicFramePr>
          <p:cNvPr id="4" name="Chart 0"/>
          <p:cNvGraphicFramePr/>
          <p:nvPr>
            <p:extLst>
              <p:ext uri="{D42A27DB-BD31-4B8C-83A1-F6EECF244321}">
                <p14:modId xmlns:p14="http://schemas.microsoft.com/office/powerpoint/2010/main" val="648004199"/>
              </p:ext>
            </p:extLst>
          </p:nvPr>
        </p:nvGraphicFramePr>
        <p:xfrm>
          <a:off x="502920" y="1412748"/>
          <a:ext cx="60350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66560" y="1417320"/>
            <a:ext cx="4892040" cy="1005840"/>
          </a:xfrm>
          <a:prstGeom prst="roundRect">
            <a:avLst>
              <a:gd name="adj" fmla="val 7273"/>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6" name="Text 3"/>
          <p:cNvSpPr/>
          <p:nvPr/>
        </p:nvSpPr>
        <p:spPr>
          <a:xfrm>
            <a:off x="6967728" y="1508760"/>
            <a:ext cx="4480560" cy="292608"/>
          </a:xfrm>
          <a:prstGeom prst="rect">
            <a:avLst/>
          </a:prstGeom>
          <a:noFill/>
          <a:ln/>
        </p:spPr>
        <p:txBody>
          <a:bodyPr wrap="square" rtlCol="0" anchor="ctr"/>
          <a:lstStyle/>
          <a:p>
            <a:pPr marL="0" indent="0">
              <a:buNone/>
            </a:pPr>
            <a:r>
              <a:rPr lang="en-US" sz="1250" b="1" dirty="0">
                <a:solidFill>
                  <a:srgbClr val="134074"/>
                </a:solidFill>
                <a:latin typeface="Calibri" pitchFamily="34" charset="0"/>
                <a:ea typeface="Calibri" pitchFamily="34" charset="-122"/>
                <a:cs typeface="Calibri" pitchFamily="34" charset="-120"/>
              </a:rPr>
              <a:t>Sudden spikes</a:t>
            </a:r>
            <a:endParaRPr lang="en-US" sz="1250" dirty="0"/>
          </a:p>
        </p:txBody>
      </p:sp>
      <p:sp>
        <p:nvSpPr>
          <p:cNvPr id="7" name="Text 4"/>
          <p:cNvSpPr/>
          <p:nvPr/>
        </p:nvSpPr>
        <p:spPr>
          <a:xfrm>
            <a:off x="6967728" y="1819656"/>
            <a:ext cx="4480560" cy="548640"/>
          </a:xfrm>
          <a:prstGeom prst="rect">
            <a:avLst/>
          </a:prstGeom>
          <a:noFill/>
          <a:ln/>
        </p:spPr>
        <p:txBody>
          <a:bodyPr wrap="square" rtlCol="0" anchor="ctr"/>
          <a:lstStyle/>
          <a:p>
            <a:pPr marL="0" indent="0">
              <a:lnSpc>
                <a:spcPts val="1200"/>
              </a:lnSpc>
              <a:buNone/>
            </a:pPr>
            <a:r>
              <a:rPr lang="en-US" sz="1400" dirty="0">
                <a:latin typeface="Calibri" pitchFamily="34" charset="0"/>
                <a:ea typeface="Calibri" pitchFamily="34" charset="-122"/>
                <a:cs typeface="Calibri" pitchFamily="34" charset="-120"/>
              </a:rPr>
              <a:t>Large positive residual/Z-score above the 24h rolling mean (e.g. bldg 927) — the classic point-anomaly signature.</a:t>
            </a:r>
            <a:endParaRPr lang="en-US" sz="1400" dirty="0"/>
          </a:p>
        </p:txBody>
      </p:sp>
      <p:sp>
        <p:nvSpPr>
          <p:cNvPr id="8" name="Shape 5"/>
          <p:cNvSpPr/>
          <p:nvPr/>
        </p:nvSpPr>
        <p:spPr>
          <a:xfrm>
            <a:off x="6766560" y="2532888"/>
            <a:ext cx="4892040" cy="1005840"/>
          </a:xfrm>
          <a:prstGeom prst="roundRect">
            <a:avLst>
              <a:gd name="adj" fmla="val 7273"/>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9" name="Text 6"/>
          <p:cNvSpPr/>
          <p:nvPr/>
        </p:nvSpPr>
        <p:spPr>
          <a:xfrm>
            <a:off x="6967728" y="2624328"/>
            <a:ext cx="4480560" cy="292608"/>
          </a:xfrm>
          <a:prstGeom prst="rect">
            <a:avLst/>
          </a:prstGeom>
          <a:noFill/>
          <a:ln/>
        </p:spPr>
        <p:txBody>
          <a:bodyPr wrap="square" rtlCol="0" anchor="ctr"/>
          <a:lstStyle/>
          <a:p>
            <a:pPr marL="0" indent="0">
              <a:buNone/>
            </a:pPr>
            <a:r>
              <a:rPr lang="en-US" sz="1250" b="1" dirty="0">
                <a:solidFill>
                  <a:srgbClr val="134074"/>
                </a:solidFill>
                <a:latin typeface="Calibri" pitchFamily="34" charset="0"/>
                <a:ea typeface="Calibri" pitchFamily="34" charset="-122"/>
                <a:cs typeface="Calibri" pitchFamily="34" charset="-120"/>
              </a:rPr>
              <a:t>Stuck / flat readings</a:t>
            </a:r>
            <a:endParaRPr lang="en-US" sz="1250" dirty="0"/>
          </a:p>
        </p:txBody>
      </p:sp>
      <p:sp>
        <p:nvSpPr>
          <p:cNvPr id="10" name="Text 7"/>
          <p:cNvSpPr/>
          <p:nvPr/>
        </p:nvSpPr>
        <p:spPr>
          <a:xfrm>
            <a:off x="6967728" y="2935224"/>
            <a:ext cx="4480560" cy="548640"/>
          </a:xfrm>
          <a:prstGeom prst="rect">
            <a:avLst/>
          </a:prstGeom>
          <a:noFill/>
          <a:ln/>
        </p:spPr>
        <p:txBody>
          <a:bodyPr wrap="square" rtlCol="0" anchor="ctr"/>
          <a:lstStyle/>
          <a:p>
            <a:pPr marL="0" indent="0">
              <a:lnSpc>
                <a:spcPts val="1200"/>
              </a:lnSpc>
              <a:buNone/>
            </a:pPr>
            <a:r>
              <a:rPr lang="en-US" sz="1400" dirty="0">
                <a:latin typeface="Calibri" pitchFamily="34" charset="0"/>
                <a:ea typeface="Calibri" pitchFamily="34" charset="-122"/>
                <a:cs typeface="Calibri" pitchFamily="34" charset="-120"/>
              </a:rPr>
              <a:t>Near-zero or constant readings against a volatile baseline (bldg 738, 724, CV ≈ 1.0+) — a meter-fault pattern.</a:t>
            </a:r>
            <a:endParaRPr lang="en-US" sz="1400" dirty="0"/>
          </a:p>
        </p:txBody>
      </p:sp>
      <p:sp>
        <p:nvSpPr>
          <p:cNvPr id="11" name="Shape 8"/>
          <p:cNvSpPr/>
          <p:nvPr/>
        </p:nvSpPr>
        <p:spPr>
          <a:xfrm>
            <a:off x="6766560" y="3648456"/>
            <a:ext cx="4892040" cy="1005840"/>
          </a:xfrm>
          <a:prstGeom prst="roundRect">
            <a:avLst>
              <a:gd name="adj" fmla="val 7273"/>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12" name="Text 9"/>
          <p:cNvSpPr/>
          <p:nvPr/>
        </p:nvSpPr>
        <p:spPr>
          <a:xfrm>
            <a:off x="6967728" y="3739896"/>
            <a:ext cx="4480560" cy="292608"/>
          </a:xfrm>
          <a:prstGeom prst="rect">
            <a:avLst/>
          </a:prstGeom>
          <a:noFill/>
          <a:ln/>
        </p:spPr>
        <p:txBody>
          <a:bodyPr wrap="square" rtlCol="0" anchor="ctr"/>
          <a:lstStyle/>
          <a:p>
            <a:pPr marL="0" indent="0">
              <a:buNone/>
            </a:pPr>
            <a:r>
              <a:rPr lang="en-US" sz="1250" b="1" dirty="0">
                <a:solidFill>
                  <a:srgbClr val="134074"/>
                </a:solidFill>
                <a:latin typeface="Calibri" pitchFamily="34" charset="0"/>
                <a:ea typeface="Calibri" pitchFamily="34" charset="-122"/>
                <a:cs typeface="Calibri" pitchFamily="34" charset="-120"/>
              </a:rPr>
              <a:t>Abrupt rate-of-change breaks</a:t>
            </a:r>
            <a:endParaRPr lang="en-US" sz="1250" dirty="0"/>
          </a:p>
        </p:txBody>
      </p:sp>
      <p:sp>
        <p:nvSpPr>
          <p:cNvPr id="13" name="Text 10"/>
          <p:cNvSpPr/>
          <p:nvPr/>
        </p:nvSpPr>
        <p:spPr>
          <a:xfrm>
            <a:off x="6967728" y="4050792"/>
            <a:ext cx="4480560" cy="548640"/>
          </a:xfrm>
          <a:prstGeom prst="rect">
            <a:avLst/>
          </a:prstGeom>
          <a:noFill/>
          <a:ln/>
        </p:spPr>
        <p:txBody>
          <a:bodyPr wrap="square" rtlCol="0" anchor="ctr"/>
          <a:lstStyle/>
          <a:p>
            <a:pPr marL="0" indent="0">
              <a:lnSpc>
                <a:spcPts val="1200"/>
              </a:lnSpc>
              <a:buNone/>
            </a:pPr>
            <a:r>
              <a:rPr lang="en-US" sz="1400" dirty="0">
                <a:latin typeface="Calibri" pitchFamily="34" charset="0"/>
                <a:ea typeface="Calibri" pitchFamily="34" charset="-122"/>
                <a:cs typeface="Calibri" pitchFamily="34" charset="-120"/>
              </a:rPr>
              <a:t>Large single-hour jumps vs. the same hour yesterday (bldg 956, 684), invisible to a level-based threshold.</a:t>
            </a:r>
            <a:endParaRPr lang="en-US" sz="1400" dirty="0"/>
          </a:p>
        </p:txBody>
      </p:sp>
      <p:sp>
        <p:nvSpPr>
          <p:cNvPr id="14" name="Shape 11"/>
          <p:cNvSpPr/>
          <p:nvPr/>
        </p:nvSpPr>
        <p:spPr>
          <a:xfrm>
            <a:off x="6766560" y="4764024"/>
            <a:ext cx="4892040" cy="1005840"/>
          </a:xfrm>
          <a:prstGeom prst="roundRect">
            <a:avLst>
              <a:gd name="adj" fmla="val 7273"/>
            </a:avLst>
          </a:prstGeom>
          <a:solidFill>
            <a:srgbClr val="FFFFFF"/>
          </a:solidFill>
          <a:ln/>
          <a:effectLst>
            <a:outerShdw blurRad="101600" dist="38100" dir="5400000" algn="bl" rotWithShape="0">
              <a:srgbClr val="1B2430">
                <a:alpha val="18000"/>
              </a:srgbClr>
            </a:outerShdw>
          </a:effectLst>
        </p:spPr>
        <p:txBody>
          <a:bodyPr/>
          <a:lstStyle/>
          <a:p>
            <a:endParaRPr lang="en-ZA"/>
          </a:p>
        </p:txBody>
      </p:sp>
      <p:sp>
        <p:nvSpPr>
          <p:cNvPr id="15" name="Text 12"/>
          <p:cNvSpPr/>
          <p:nvPr/>
        </p:nvSpPr>
        <p:spPr>
          <a:xfrm>
            <a:off x="6967728" y="4855464"/>
            <a:ext cx="4480560" cy="292608"/>
          </a:xfrm>
          <a:prstGeom prst="rect">
            <a:avLst/>
          </a:prstGeom>
          <a:noFill/>
          <a:ln/>
        </p:spPr>
        <p:txBody>
          <a:bodyPr wrap="square" rtlCol="0" anchor="ctr"/>
          <a:lstStyle/>
          <a:p>
            <a:pPr marL="0" indent="0">
              <a:buNone/>
            </a:pPr>
            <a:r>
              <a:rPr lang="en-US" sz="1250" b="1" dirty="0">
                <a:solidFill>
                  <a:srgbClr val="134074"/>
                </a:solidFill>
                <a:latin typeface="Calibri" pitchFamily="34" charset="0"/>
                <a:ea typeface="Calibri" pitchFamily="34" charset="-122"/>
                <a:cs typeface="Calibri" pitchFamily="34" charset="-120"/>
              </a:rPr>
              <a:t>Small-building relative jumps</a:t>
            </a:r>
            <a:endParaRPr lang="en-US" sz="1250" dirty="0"/>
          </a:p>
        </p:txBody>
      </p:sp>
      <p:sp>
        <p:nvSpPr>
          <p:cNvPr id="16" name="Text 13"/>
          <p:cNvSpPr/>
          <p:nvPr/>
        </p:nvSpPr>
        <p:spPr>
          <a:xfrm>
            <a:off x="6967728" y="5166360"/>
            <a:ext cx="4480560" cy="548640"/>
          </a:xfrm>
          <a:prstGeom prst="rect">
            <a:avLst/>
          </a:prstGeom>
          <a:noFill/>
          <a:ln/>
        </p:spPr>
        <p:txBody>
          <a:bodyPr wrap="square" rtlCol="0" anchor="ctr"/>
          <a:lstStyle/>
          <a:p>
            <a:pPr marL="0" indent="0">
              <a:lnSpc>
                <a:spcPts val="1200"/>
              </a:lnSpc>
              <a:buNone/>
            </a:pPr>
            <a:r>
              <a:rPr lang="en-US" sz="1400" dirty="0">
                <a:latin typeface="Calibri" pitchFamily="34" charset="0"/>
                <a:ea typeface="Calibri" pitchFamily="34" charset="-122"/>
                <a:cs typeface="Calibri" pitchFamily="34" charset="-120"/>
              </a:rPr>
              <a:t>Low-consumption buildings (e.g. bldg 943, mean 4.17 kWh) with high CV — small absolute moves, large relative signal.</a:t>
            </a:r>
            <a:endParaRPr lang="en-US" sz="1400" dirty="0"/>
          </a:p>
        </p:txBody>
      </p:sp>
      <p:sp>
        <p:nvSpPr>
          <p:cNvPr id="17" name="Text 14"/>
          <p:cNvSpPr/>
          <p:nvPr/>
        </p:nvSpPr>
        <p:spPr>
          <a:xfrm>
            <a:off x="502920" y="5806440"/>
            <a:ext cx="11155680" cy="457200"/>
          </a:xfrm>
          <a:prstGeom prst="rect">
            <a:avLst/>
          </a:prstGeom>
          <a:noFill/>
          <a:ln/>
        </p:spPr>
        <p:txBody>
          <a:bodyPr wrap="square" rtlCol="0" anchor="ctr"/>
          <a:lstStyle/>
          <a:p>
            <a:pPr marL="0" indent="0">
              <a:buNone/>
            </a:pPr>
            <a:r>
              <a:rPr lang="en-US" sz="1400" i="1" dirty="0">
                <a:latin typeface="Calibri" pitchFamily="34" charset="0"/>
                <a:ea typeface="Calibri" pitchFamily="34" charset="-122"/>
                <a:cs typeface="Calibri" pitchFamily="34" charset="-120"/>
              </a:rPr>
              <a:t>In every case the anomaly is explained by a deviation from that building's own recent behaviour — confirming that anomalies here are contextual, not simple global outliers.</a:t>
            </a:r>
            <a:endParaRPr lang="en-US" sz="1400" dirty="0"/>
          </a:p>
        </p:txBody>
      </p:sp>
      <p:sp>
        <p:nvSpPr>
          <p:cNvPr id="19" name="Text 16"/>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66928" y="164592"/>
            <a:ext cx="11094415" cy="274320"/>
          </a:xfrm>
          <a:prstGeom prst="rect">
            <a:avLst/>
          </a:prstGeom>
          <a:noFill/>
          <a:ln/>
        </p:spPr>
        <p:txBody>
          <a:bodyPr wrap="square" rtlCol="0" anchor="ctr"/>
          <a:lstStyle/>
          <a:p>
            <a:pPr marL="0" indent="0" algn="l">
              <a:buNone/>
            </a:pPr>
            <a:endParaRPr lang="en-US" sz="1200" dirty="0"/>
          </a:p>
        </p:txBody>
      </p:sp>
      <p:sp>
        <p:nvSpPr>
          <p:cNvPr id="3" name="Text 1"/>
          <p:cNvSpPr/>
          <p:nvPr/>
        </p:nvSpPr>
        <p:spPr>
          <a:xfrm>
            <a:off x="548640" y="411480"/>
            <a:ext cx="11094415" cy="73152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Limitations &amp; conclusion</a:t>
            </a:r>
            <a:endParaRPr lang="en-US" sz="3000" dirty="0"/>
          </a:p>
        </p:txBody>
      </p:sp>
      <p:sp>
        <p:nvSpPr>
          <p:cNvPr id="4" name="Text 2"/>
          <p:cNvSpPr/>
          <p:nvPr/>
        </p:nvSpPr>
        <p:spPr>
          <a:xfrm>
            <a:off x="594360" y="1371600"/>
            <a:ext cx="5486400" cy="274320"/>
          </a:xfrm>
          <a:prstGeom prst="rect">
            <a:avLst/>
          </a:prstGeom>
          <a:noFill/>
          <a:ln/>
        </p:spPr>
        <p:txBody>
          <a:bodyPr wrap="square" rtlCol="0" anchor="ctr"/>
          <a:lstStyle/>
          <a:p>
            <a:pPr marL="0" indent="0">
              <a:buNone/>
            </a:pPr>
            <a:r>
              <a:rPr lang="en-US" sz="1200" b="1" kern="0" spc="120" dirty="0">
                <a:solidFill>
                  <a:srgbClr val="F2A541"/>
                </a:solidFill>
                <a:latin typeface="Calibri" pitchFamily="34" charset="0"/>
                <a:ea typeface="Calibri" pitchFamily="34" charset="-122"/>
                <a:cs typeface="Calibri" pitchFamily="34" charset="-120"/>
              </a:rPr>
              <a:t>LIMITATIONS &amp; FUTURE WORK</a:t>
            </a:r>
            <a:endParaRPr lang="en-US" sz="1200" dirty="0"/>
          </a:p>
        </p:txBody>
      </p:sp>
      <p:sp>
        <p:nvSpPr>
          <p:cNvPr id="5" name="Shape 3"/>
          <p:cNvSpPr/>
          <p:nvPr/>
        </p:nvSpPr>
        <p:spPr>
          <a:xfrm>
            <a:off x="594360" y="1847088"/>
            <a:ext cx="109728" cy="109728"/>
          </a:xfrm>
          <a:prstGeom prst="rect">
            <a:avLst/>
          </a:prstGeom>
          <a:solidFill>
            <a:srgbClr val="F2A541"/>
          </a:solidFill>
          <a:ln/>
        </p:spPr>
        <p:txBody>
          <a:bodyPr/>
          <a:lstStyle/>
          <a:p>
            <a:endParaRPr lang="en-ZA"/>
          </a:p>
        </p:txBody>
      </p:sp>
      <p:sp>
        <p:nvSpPr>
          <p:cNvPr id="6" name="Text 4"/>
          <p:cNvSpPr/>
          <p:nvPr/>
        </p:nvSpPr>
        <p:spPr>
          <a:xfrm>
            <a:off x="896112" y="1709928"/>
            <a:ext cx="5394960" cy="640080"/>
          </a:xfrm>
          <a:prstGeom prst="rect">
            <a:avLst/>
          </a:prstGeom>
          <a:noFill/>
          <a:ln/>
        </p:spPr>
        <p:txBody>
          <a:bodyPr wrap="square" rtlCol="0" anchor="ctr"/>
          <a:lstStyle/>
          <a:p>
            <a:pPr marL="0" indent="0">
              <a:lnSpc>
                <a:spcPts val="1500"/>
              </a:lnSpc>
              <a:buNone/>
            </a:pPr>
            <a:r>
              <a:rPr lang="en-US" sz="1600" dirty="0">
                <a:solidFill>
                  <a:schemeClr val="bg1"/>
                </a:solidFill>
                <a:latin typeface="Calibri" pitchFamily="34" charset="0"/>
                <a:ea typeface="Calibri" pitchFamily="34" charset="-122"/>
                <a:cs typeface="Calibri" pitchFamily="34" charset="-120"/>
              </a:rPr>
              <a:t>Single 70/30 building split (cross-checked with GroupKFold) — full nested CV would tighten the variance estimate</a:t>
            </a:r>
            <a:endParaRPr lang="en-US" sz="1600" dirty="0">
              <a:solidFill>
                <a:schemeClr val="bg1"/>
              </a:solidFill>
            </a:endParaRPr>
          </a:p>
        </p:txBody>
      </p:sp>
      <p:sp>
        <p:nvSpPr>
          <p:cNvPr id="7" name="Shape 5"/>
          <p:cNvSpPr/>
          <p:nvPr/>
        </p:nvSpPr>
        <p:spPr>
          <a:xfrm>
            <a:off x="594360" y="2624328"/>
            <a:ext cx="109728" cy="109728"/>
          </a:xfrm>
          <a:prstGeom prst="rect">
            <a:avLst/>
          </a:prstGeom>
          <a:solidFill>
            <a:srgbClr val="F2A541"/>
          </a:solidFill>
          <a:ln/>
        </p:spPr>
        <p:txBody>
          <a:bodyPr/>
          <a:lstStyle/>
          <a:p>
            <a:endParaRPr lang="en-ZA"/>
          </a:p>
        </p:txBody>
      </p:sp>
      <p:sp>
        <p:nvSpPr>
          <p:cNvPr id="8" name="Text 6"/>
          <p:cNvSpPr/>
          <p:nvPr/>
        </p:nvSpPr>
        <p:spPr>
          <a:xfrm>
            <a:off x="896112" y="2487168"/>
            <a:ext cx="5394960" cy="640080"/>
          </a:xfrm>
          <a:prstGeom prst="rect">
            <a:avLst/>
          </a:prstGeom>
          <a:noFill/>
          <a:ln/>
        </p:spPr>
        <p:txBody>
          <a:bodyPr wrap="square" rtlCol="0" anchor="ctr"/>
          <a:lstStyle/>
          <a:p>
            <a:pPr marL="0" indent="0">
              <a:lnSpc>
                <a:spcPts val="1500"/>
              </a:lnSpc>
              <a:buNone/>
            </a:pPr>
            <a:r>
              <a:rPr lang="en-US" sz="1600" dirty="0">
                <a:solidFill>
                  <a:schemeClr val="bg1"/>
                </a:solidFill>
                <a:latin typeface="Calibri" pitchFamily="34" charset="0"/>
                <a:ea typeface="Calibri" pitchFamily="34" charset="-122"/>
                <a:cs typeface="Calibri" pitchFamily="34" charset="-120"/>
              </a:rPr>
              <a:t>Optional building-attribute files not used — could lift precision further, especially for small buildings</a:t>
            </a:r>
            <a:endParaRPr lang="en-US" sz="1600" dirty="0">
              <a:solidFill>
                <a:schemeClr val="bg1"/>
              </a:solidFill>
            </a:endParaRPr>
          </a:p>
        </p:txBody>
      </p:sp>
      <p:sp>
        <p:nvSpPr>
          <p:cNvPr id="9" name="Shape 7"/>
          <p:cNvSpPr/>
          <p:nvPr/>
        </p:nvSpPr>
        <p:spPr>
          <a:xfrm>
            <a:off x="594360" y="3401568"/>
            <a:ext cx="109728" cy="109728"/>
          </a:xfrm>
          <a:prstGeom prst="rect">
            <a:avLst/>
          </a:prstGeom>
          <a:solidFill>
            <a:srgbClr val="F2A541"/>
          </a:solidFill>
          <a:ln/>
        </p:spPr>
        <p:txBody>
          <a:bodyPr/>
          <a:lstStyle/>
          <a:p>
            <a:endParaRPr lang="en-ZA"/>
          </a:p>
        </p:txBody>
      </p:sp>
      <p:sp>
        <p:nvSpPr>
          <p:cNvPr id="10" name="Text 8"/>
          <p:cNvSpPr/>
          <p:nvPr/>
        </p:nvSpPr>
        <p:spPr>
          <a:xfrm>
            <a:off x="896112" y="3264408"/>
            <a:ext cx="5394960" cy="640080"/>
          </a:xfrm>
          <a:prstGeom prst="rect">
            <a:avLst/>
          </a:prstGeom>
          <a:noFill/>
          <a:ln/>
        </p:spPr>
        <p:txBody>
          <a:bodyPr wrap="square" rtlCol="0" anchor="ctr"/>
          <a:lstStyle/>
          <a:p>
            <a:pPr marL="0" indent="0">
              <a:lnSpc>
                <a:spcPts val="1500"/>
              </a:lnSpc>
              <a:buNone/>
            </a:pPr>
            <a:r>
              <a:rPr lang="en-US" sz="1600" dirty="0">
                <a:solidFill>
                  <a:schemeClr val="bg1"/>
                </a:solidFill>
                <a:latin typeface="Calibri" pitchFamily="34" charset="0"/>
                <a:ea typeface="Calibri" pitchFamily="34" charset="-122"/>
                <a:cs typeface="Calibri" pitchFamily="34" charset="-120"/>
              </a:rPr>
              <a:t>No SHAP/feature-importance layer yet — would make flagged readings auditable for operational use</a:t>
            </a:r>
            <a:endParaRPr lang="en-US" sz="1600" dirty="0">
              <a:solidFill>
                <a:schemeClr val="bg1"/>
              </a:solidFill>
            </a:endParaRPr>
          </a:p>
        </p:txBody>
      </p:sp>
      <p:sp>
        <p:nvSpPr>
          <p:cNvPr id="11" name="Shape 9"/>
          <p:cNvSpPr/>
          <p:nvPr/>
        </p:nvSpPr>
        <p:spPr>
          <a:xfrm>
            <a:off x="594360" y="4178808"/>
            <a:ext cx="109728" cy="109728"/>
          </a:xfrm>
          <a:prstGeom prst="rect">
            <a:avLst/>
          </a:prstGeom>
          <a:solidFill>
            <a:srgbClr val="F2A541"/>
          </a:solidFill>
          <a:ln/>
        </p:spPr>
        <p:txBody>
          <a:bodyPr/>
          <a:lstStyle/>
          <a:p>
            <a:endParaRPr lang="en-ZA"/>
          </a:p>
        </p:txBody>
      </p:sp>
      <p:sp>
        <p:nvSpPr>
          <p:cNvPr id="12" name="Text 10"/>
          <p:cNvSpPr/>
          <p:nvPr/>
        </p:nvSpPr>
        <p:spPr>
          <a:xfrm>
            <a:off x="896112" y="4041648"/>
            <a:ext cx="5394960" cy="640080"/>
          </a:xfrm>
          <a:prstGeom prst="rect">
            <a:avLst/>
          </a:prstGeom>
          <a:noFill/>
          <a:ln/>
        </p:spPr>
        <p:txBody>
          <a:bodyPr wrap="square" rtlCol="0" anchor="ctr"/>
          <a:lstStyle/>
          <a:p>
            <a:pPr marL="0" indent="0">
              <a:lnSpc>
                <a:spcPts val="1500"/>
              </a:lnSpc>
              <a:buNone/>
            </a:pPr>
            <a:r>
              <a:rPr lang="en-US" sz="1600" dirty="0">
                <a:solidFill>
                  <a:schemeClr val="bg1"/>
                </a:solidFill>
                <a:latin typeface="Calibri" pitchFamily="34" charset="0"/>
                <a:ea typeface="Calibri" pitchFamily="34" charset="-122"/>
                <a:cs typeface="Calibri" pitchFamily="34" charset="-120"/>
              </a:rPr>
              <a:t>Unsupervised baseline (e.g. Isolation Forest) would sanity-check against novel anomaly types</a:t>
            </a:r>
            <a:endParaRPr lang="en-US" sz="1600" dirty="0">
              <a:solidFill>
                <a:schemeClr val="bg1"/>
              </a:solidFill>
            </a:endParaRPr>
          </a:p>
        </p:txBody>
      </p:sp>
      <p:sp>
        <p:nvSpPr>
          <p:cNvPr id="13" name="Shape 11"/>
          <p:cNvSpPr/>
          <p:nvPr/>
        </p:nvSpPr>
        <p:spPr>
          <a:xfrm>
            <a:off x="6400800" y="1371600"/>
            <a:ext cx="5166360" cy="4937760"/>
          </a:xfrm>
          <a:prstGeom prst="roundRect">
            <a:avLst>
              <a:gd name="adj" fmla="val 1481"/>
            </a:avLst>
          </a:prstGeom>
          <a:solidFill>
            <a:srgbClr val="0F3562"/>
          </a:solidFill>
          <a:ln/>
        </p:spPr>
        <p:txBody>
          <a:bodyPr/>
          <a:lstStyle/>
          <a:p>
            <a:endParaRPr lang="en-ZA"/>
          </a:p>
        </p:txBody>
      </p:sp>
      <p:sp>
        <p:nvSpPr>
          <p:cNvPr id="14" name="Text 12"/>
          <p:cNvSpPr/>
          <p:nvPr/>
        </p:nvSpPr>
        <p:spPr>
          <a:xfrm>
            <a:off x="6675120" y="1600200"/>
            <a:ext cx="4572000" cy="274320"/>
          </a:xfrm>
          <a:prstGeom prst="rect">
            <a:avLst/>
          </a:prstGeom>
          <a:noFill/>
          <a:ln/>
        </p:spPr>
        <p:txBody>
          <a:bodyPr wrap="square" rtlCol="0" anchor="ctr"/>
          <a:lstStyle/>
          <a:p>
            <a:pPr marL="0" indent="0">
              <a:buNone/>
            </a:pPr>
            <a:r>
              <a:rPr lang="en-US" sz="1200" b="1" kern="0" spc="120" dirty="0">
                <a:solidFill>
                  <a:srgbClr val="F2A541"/>
                </a:solidFill>
                <a:latin typeface="Calibri" pitchFamily="34" charset="0"/>
                <a:ea typeface="Calibri" pitchFamily="34" charset="-122"/>
                <a:cs typeface="Calibri" pitchFamily="34" charset="-120"/>
              </a:rPr>
              <a:t>CONCLUSION</a:t>
            </a:r>
            <a:endParaRPr lang="en-US" sz="1200" dirty="0"/>
          </a:p>
        </p:txBody>
      </p:sp>
      <p:sp>
        <p:nvSpPr>
          <p:cNvPr id="15" name="Text 13"/>
          <p:cNvSpPr/>
          <p:nvPr/>
        </p:nvSpPr>
        <p:spPr>
          <a:xfrm>
            <a:off x="6675120" y="1965960"/>
            <a:ext cx="4617720" cy="13716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A leakage-safe pipeline — justified cleaning, per-building feature engineering, building-grouped validation, and a three-model comparison produced a Balanced Random Forest with strong precision (0.969) and a healthy F1-score (0.830).</a:t>
            </a:r>
            <a:endParaRPr lang="en-US" sz="1600" dirty="0"/>
          </a:p>
        </p:txBody>
      </p:sp>
      <p:sp>
        <p:nvSpPr>
          <p:cNvPr id="16" name="Text 14"/>
          <p:cNvSpPr/>
          <p:nvPr/>
        </p:nvSpPr>
        <p:spPr>
          <a:xfrm>
            <a:off x="6675120" y="3429000"/>
            <a:ext cx="4617720" cy="1371600"/>
          </a:xfrm>
          <a:prstGeom prst="rect">
            <a:avLst/>
          </a:prstGeom>
          <a:noFill/>
          <a:ln/>
        </p:spPr>
        <p:txBody>
          <a:bodyPr wrap="square" rtlCol="0" anchor="ctr"/>
          <a:lstStyle/>
          <a:p>
            <a:pPr marL="0" indent="0">
              <a:lnSpc>
                <a:spcPts val="1900"/>
              </a:lnSpc>
              <a:buNone/>
            </a:pPr>
            <a:r>
              <a:rPr lang="en-US" sz="1600" dirty="0">
                <a:solidFill>
                  <a:srgbClr val="CADCFC"/>
                </a:solidFill>
                <a:latin typeface="Calibri" pitchFamily="34" charset="0"/>
                <a:ea typeface="Calibri" pitchFamily="34" charset="-122"/>
                <a:cs typeface="Calibri" pitchFamily="34" charset="-120"/>
              </a:rPr>
              <a:t>Applied to 1.8M unseen readings across 206 new buildings, it flagged 19,006 (1.06%) as anomalous — with flagged readings consistently explained by contextual, building-relative deviations rather than simple global thresholds.</a:t>
            </a:r>
            <a:endParaRPr lang="en-US" sz="1600" dirty="0"/>
          </a:p>
        </p:txBody>
      </p:sp>
      <p:sp>
        <p:nvSpPr>
          <p:cNvPr id="17" name="Shape 15"/>
          <p:cNvSpPr/>
          <p:nvPr/>
        </p:nvSpPr>
        <p:spPr>
          <a:xfrm>
            <a:off x="6675120" y="4937760"/>
            <a:ext cx="4617720" cy="0"/>
          </a:xfrm>
          <a:prstGeom prst="line">
            <a:avLst/>
          </a:prstGeom>
          <a:noFill/>
          <a:ln w="12700">
            <a:solidFill>
              <a:srgbClr val="2B4E7A"/>
            </a:solidFill>
            <a:prstDash val="solid"/>
          </a:ln>
        </p:spPr>
        <p:txBody>
          <a:bodyPr/>
          <a:lstStyle/>
          <a:p>
            <a:endParaRPr lang="en-ZA"/>
          </a:p>
        </p:txBody>
      </p:sp>
      <p:sp>
        <p:nvSpPr>
          <p:cNvPr id="21" name="Text 19"/>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9FB3D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C86EF9A4-8A21-DC6A-CA1F-79B107E2808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F04FF6A-ADB6-A69A-C421-E97BDFCE7FF5}"/>
              </a:ext>
            </a:extLst>
          </p:cNvPr>
          <p:cNvSpPr/>
          <p:nvPr/>
        </p:nvSpPr>
        <p:spPr>
          <a:xfrm>
            <a:off x="566928" y="164592"/>
            <a:ext cx="11094415" cy="274320"/>
          </a:xfrm>
          <a:prstGeom prst="rect">
            <a:avLst/>
          </a:prstGeom>
          <a:noFill/>
          <a:ln/>
        </p:spPr>
        <p:txBody>
          <a:bodyPr wrap="square" rtlCol="0" anchor="ctr"/>
          <a:lstStyle/>
          <a:p>
            <a:pPr marL="0" indent="0" algn="l">
              <a:buNone/>
            </a:pPr>
            <a:endParaRPr lang="en-US" sz="1200" dirty="0"/>
          </a:p>
        </p:txBody>
      </p:sp>
      <p:sp>
        <p:nvSpPr>
          <p:cNvPr id="3" name="Text 1">
            <a:extLst>
              <a:ext uri="{FF2B5EF4-FFF2-40B4-BE49-F238E27FC236}">
                <a16:creationId xmlns:a16="http://schemas.microsoft.com/office/drawing/2014/main" id="{383EB7CD-FA09-F439-36CD-21784D4877C0}"/>
              </a:ext>
            </a:extLst>
          </p:cNvPr>
          <p:cNvSpPr/>
          <p:nvPr/>
        </p:nvSpPr>
        <p:spPr>
          <a:xfrm>
            <a:off x="3769360" y="2098039"/>
            <a:ext cx="5628639" cy="3252893"/>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21" name="Text 19">
            <a:extLst>
              <a:ext uri="{FF2B5EF4-FFF2-40B4-BE49-F238E27FC236}">
                <a16:creationId xmlns:a16="http://schemas.microsoft.com/office/drawing/2014/main" id="{8732567E-8E26-6BFE-062E-63D247CC6925}"/>
              </a:ext>
            </a:extLst>
          </p:cNvPr>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9FB3D1"/>
                </a:solidFill>
                <a:latin typeface="Calibri" pitchFamily="34" charset="0"/>
                <a:ea typeface="Calibri" pitchFamily="34" charset="-122"/>
                <a:cs typeface="Calibri" pitchFamily="34" charset="-120"/>
              </a:rPr>
              <a:t>13</a:t>
            </a:r>
            <a:endParaRPr lang="en-US" sz="1000" dirty="0"/>
          </a:p>
        </p:txBody>
      </p:sp>
    </p:spTree>
    <p:extLst>
      <p:ext uri="{BB962C8B-B14F-4D97-AF65-F5344CB8AC3E}">
        <p14:creationId xmlns:p14="http://schemas.microsoft.com/office/powerpoint/2010/main" val="1744814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1495</Words>
  <Application>Microsoft Office PowerPoint</Application>
  <PresentationFormat>Widescreen</PresentationFormat>
  <Paragraphs>203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Boipelo Letwaba</cp:lastModifiedBy>
  <cp:revision>9</cp:revision>
  <dcterms:created xsi:type="dcterms:W3CDTF">2026-09-04T19:41:20Z</dcterms:created>
  <dcterms:modified xsi:type="dcterms:W3CDTF">2026-09-30T12:14:22Z</dcterms:modified>
</cp:coreProperties>
</file>